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3840af7f434b1d" /><Relationship Type="http://schemas.openxmlformats.org/officeDocument/2006/relationships/extended-properties" Target="/docProps/app.xml" Id="R4ad9d9e1d77b4a46" /><Relationship Type="http://schemas.openxmlformats.org/officeDocument/2006/relationships/officeDocument" Target="/ppt/presentation.xml" Id="R15bf1fc1a7ef4190" /></Relationships>
</file>

<file path=ppt/presentation.xml><?xml version="1.0" encoding="utf-8"?>
<p:presentation xmlns:p="http://schemas.openxmlformats.org/presentationml/2006/main">
  <p:sldMasterIdLst>
    <p:sldMasterId xmlns:r="http://schemas.openxmlformats.org/officeDocument/2006/relationships" id="2147483648" r:id="R1575884e4c4446eb"/>
  </p:sldMasterIdLst>
  <p:notesMasterIdLst>
    <p:notesMasterId xmlns:r="http://schemas.openxmlformats.org/officeDocument/2006/relationships" r:id="Reb3ad700a4dd4672"/>
  </p:notesMasterIdLst>
  <p:sldIdLst>
    <p:sldId xmlns:r="http://schemas.openxmlformats.org/officeDocument/2006/relationships" id="256" r:id="Rb068a2a155ae41bf"/>
    <p:sldId xmlns:r="http://schemas.openxmlformats.org/officeDocument/2006/relationships" id="257" r:id="R97ce230a5e0e44a4"/>
    <p:sldId xmlns:r="http://schemas.openxmlformats.org/officeDocument/2006/relationships" id="258" r:id="R6139ef1b0ab14011"/>
    <p:sldId xmlns:r="http://schemas.openxmlformats.org/officeDocument/2006/relationships" id="259" r:id="Re6361002905b4989"/>
    <p:sldId xmlns:r="http://schemas.openxmlformats.org/officeDocument/2006/relationships" id="260" r:id="R4f2cbd03f21a4c9b"/>
    <p:sldId xmlns:r="http://schemas.openxmlformats.org/officeDocument/2006/relationships" id="261" r:id="R5da33fa1e3c4498e"/>
    <p:sldId xmlns:r="http://schemas.openxmlformats.org/officeDocument/2006/relationships" id="262" r:id="Re825a09abcc64d27"/>
    <p:sldId xmlns:r="http://schemas.openxmlformats.org/officeDocument/2006/relationships" id="263" r:id="R9c46af186ce04f91"/>
    <p:sldId xmlns:r="http://schemas.openxmlformats.org/officeDocument/2006/relationships" id="264" r:id="R4a0037889ffd43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7e47c24a094a8f" /><Relationship Type="http://schemas.openxmlformats.org/officeDocument/2006/relationships/slideMaster" Target="/ppt/slideMasters/slideMaster1.xml" Id="R1575884e4c4446eb" /><Relationship Type="http://schemas.openxmlformats.org/officeDocument/2006/relationships/notesMaster" Target="/ppt/notesMasters/notesMaster1.xml" Id="Reb3ad700a4dd4672" /><Relationship Type="http://schemas.openxmlformats.org/officeDocument/2006/relationships/presProps" Target="/ppt/presProps.xml" Id="R4f7dd6c611454251" /><Relationship Type="http://schemas.openxmlformats.org/officeDocument/2006/relationships/tableStyles" Target="/ppt/tableStyles.xml" Id="Rd35affe70595421f" /><Relationship Type="http://schemas.openxmlformats.org/officeDocument/2006/relationships/slide" Target="/ppt/slides/slide1.xml" Id="Rb068a2a155ae41bf" /><Relationship Type="http://schemas.openxmlformats.org/officeDocument/2006/relationships/slide" Target="/ppt/slides/slide2.xml" Id="R97ce230a5e0e44a4" /><Relationship Type="http://schemas.openxmlformats.org/officeDocument/2006/relationships/slide" Target="/ppt/slides/slide3.xml" Id="R6139ef1b0ab14011" /><Relationship Type="http://schemas.openxmlformats.org/officeDocument/2006/relationships/slide" Target="/ppt/slides/slide4.xml" Id="Re6361002905b4989" /><Relationship Type="http://schemas.openxmlformats.org/officeDocument/2006/relationships/slide" Target="/ppt/slides/slide5.xml" Id="R4f2cbd03f21a4c9b" /><Relationship Type="http://schemas.openxmlformats.org/officeDocument/2006/relationships/slide" Target="/ppt/slides/slide6.xml" Id="R5da33fa1e3c4498e" /><Relationship Type="http://schemas.openxmlformats.org/officeDocument/2006/relationships/slide" Target="/ppt/slides/slide7.xml" Id="Re825a09abcc64d27" /><Relationship Type="http://schemas.openxmlformats.org/officeDocument/2006/relationships/slide" Target="/ppt/slides/slide8.xml" Id="R9c46af186ce04f91" /><Relationship Type="http://schemas.openxmlformats.org/officeDocument/2006/relationships/slide" Target="/ppt/slides/slide9.xml" Id="R4a0037889ffd43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db6e88bff34d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ac5d8d180f4bdb" /><Relationship Type="http://schemas.openxmlformats.org/officeDocument/2006/relationships/notesMaster" Target="/ppt/notesMasters/notesMaster1.xml" Id="R5bbc76c0f19a4c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1823739acf4b64" /><Relationship Type="http://schemas.openxmlformats.org/officeDocument/2006/relationships/notesMaster" Target="/ppt/notesMasters/notesMaster1.xml" Id="R08888912e30e44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1f988b02ea4852" /><Relationship Type="http://schemas.openxmlformats.org/officeDocument/2006/relationships/notesMaster" Target="/ppt/notesMasters/notesMaster1.xml" Id="Rd704b8ac4f5c45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e9dde88a92411b" /><Relationship Type="http://schemas.openxmlformats.org/officeDocument/2006/relationships/notesMaster" Target="/ppt/notesMasters/notesMaster1.xml" Id="Rf3c2ba35d13d42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07c8c6845549f8" /><Relationship Type="http://schemas.openxmlformats.org/officeDocument/2006/relationships/notesMaster" Target="/ppt/notesMasters/notesMaster1.xml" Id="R4e5bc63ffda04b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24ec0617e6407b" /><Relationship Type="http://schemas.openxmlformats.org/officeDocument/2006/relationships/notesMaster" Target="/ppt/notesMasters/notesMaster1.xml" Id="R6d866d01861e4f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593c31c21c4bb9" /><Relationship Type="http://schemas.openxmlformats.org/officeDocument/2006/relationships/notesMaster" Target="/ppt/notesMasters/notesMaster1.xml" Id="Rf832ea59a1224c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f3dbd1cc0449f3" /><Relationship Type="http://schemas.openxmlformats.org/officeDocument/2006/relationships/notesMaster" Target="/ppt/notesMasters/notesMaster1.xml" Id="Rf6eea40a2ff944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97e83c2db24269" /><Relationship Type="http://schemas.openxmlformats.org/officeDocument/2006/relationships/notesMaster" Target="/ppt/notesMasters/notesMaster1.xml" Id="Rc1e7b9ad9d2749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Open met het merk en de sportbeleving. Stel een samenwerking met Petanque13 voor. Het achtergrondbeeld is een gegenereerd campagneconcept op basis van de Iris Vert-productfoto, geen foto van een echt evenement.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Toon de kleuren en de herkenbaarheid van Boulenciel. Dit zijn de originele productfoto’s van de vier Iris-uitvoeringen. De presentatie gebruikt het merk als hoofdonderwerp, niet als een klein sponsorlogo.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Noem eerst het actuele aantal: 571 tornooien, door Frederic bevestigd op 8 oktober 2026. De overige cijfers komen uit het bestaande dossier. Dit is platformbereik, geen gegarandeerd bereik van de sponsor.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De eigen pagina is lokaal voorbereid en nog niet gepubliceerd. Ze toont 18 sets met keuzehulp in Nederlands en Frans. Er zijn momenteel geen bestelknoppen. Laat Boulenciel de inhoud en merkuitstraling vooraf beoordelen.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Hier tonen we een visueel concept met het echte Boulenciel-logo naast de bestaande Match13-kaart. De scorekaart komt uit het dossier. De sponsorstrook is een voorstel en moet nog technisch geïntegreerd worden. De merkplaatsing is aangepast voor deze presentatie, geen bewijs van bestaande sponsoring.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Het zaalscherm is de tweede fysieke contactplaats. Het logo is hier als concept in een nieuwe merkstrook geplaatst. Die sponsorzone is nog te bouwen. Beschikbaarheid en zichtbaarheid hangen af van de tornooien die Match13 en het zaalscherm gebruiken.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Bespreek twee duidelijke keuzes. Hoofdsponsor kost volgens het dossier 1.550 euro per jaar en bevat onder meer merkpagina, homepagebanner en vermeldingen. Match13-hoofdpartner kost 3.000 euro per jaar en voegt wedstrijdkaartjes en zaalscherm toe. Beide omvatten de onderliggende pakketten. Maximaal twee hoofdsponsors en één Match13-hoofdpartner per jaar. Tarieven betreffen het eerste sponsorjaar. Btw-status staat niet in het dossier en moet in het definitieve voorstel vastgelegd worden.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Leg uit wat de volgende stap is: samen merkuitstraling en pakket beoordelen, daarna preview goedkeuren en uitvoering afspreken. Sponsoring ondersteunt de verdere ontwikkeling van Petanque13 en Match13. Rapportage is een voorstel, geen bestaand vast pakketonderdeel.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Sluit af met de uitnodiging om de concrete merkplaatsen te bespreken. Het doel is een vervolggesprek en beoordeling van de preview, geen impliciete aanvaarding van een overeenkomst. Het campagnebeeld is conceptueel gegenereerd op basis van de productfoto.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13dd5ad83c46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3c730486a743e5" /><Relationship Type="http://schemas.openxmlformats.org/officeDocument/2006/relationships/slideLayout" Target="/ppt/slideLayouts/slideLayout1.xml" Id="R583bef8b3c2247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3bef8b3c2247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99c26d3a8d4dcd" /><Relationship Type="http://schemas.openxmlformats.org/officeDocument/2006/relationships/image" Target="/ppt/media/image.png" Id="R6719ffb693ea4d61" /><Relationship Type="http://schemas.openxmlformats.org/officeDocument/2006/relationships/image" Target="/ppt/media/image2.png" Id="Rb9b43d92bdf34beb" /><Relationship Type="http://schemas.openxmlformats.org/officeDocument/2006/relationships/image" Target="/ppt/media/image3.png" Id="Rab9025f313e34abc" /><Relationship Type="http://schemas.openxmlformats.org/officeDocument/2006/relationships/notesSlide" Target="/ppt/notesSlides/notesSlide1.xml" Id="R9e77a3f360e042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5b7754610346fa" /><Relationship Type="http://schemas.openxmlformats.org/officeDocument/2006/relationships/image" Target="/ppt/media/image4.png" Id="R8b31412252954064" /><Relationship Type="http://schemas.openxmlformats.org/officeDocument/2006/relationships/image" Target="/ppt/media/image.jpeg" Id="Rf1e74058e8ea4761" /><Relationship Type="http://schemas.openxmlformats.org/officeDocument/2006/relationships/image" Target="/ppt/media/image2.jpeg" Id="R7a91dc5b0cd147f7" /><Relationship Type="http://schemas.openxmlformats.org/officeDocument/2006/relationships/image" Target="/ppt/media/image3.jpeg" Id="Rddf77a49976043c8" /><Relationship Type="http://schemas.openxmlformats.org/officeDocument/2006/relationships/image" Target="/ppt/media/image4.jpeg" Id="R134824b3ad9247eb" /><Relationship Type="http://schemas.openxmlformats.org/officeDocument/2006/relationships/notesSlide" Target="/ppt/notesSlides/notesSlide2.xml" Id="R98c15db5c00945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188ee624034d5f" /><Relationship Type="http://schemas.openxmlformats.org/officeDocument/2006/relationships/image" Target="/ppt/media/image5.png" Id="R1d857903fa51446f" /><Relationship Type="http://schemas.openxmlformats.org/officeDocument/2006/relationships/notesSlide" Target="/ppt/notesSlides/notesSlide3.xml" Id="R12baa7adaa7a43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9c0878752d48d7" /><Relationship Type="http://schemas.openxmlformats.org/officeDocument/2006/relationships/image" Target="/ppt/media/image6.png" Id="R466a9fa06ab146dc" /><Relationship Type="http://schemas.openxmlformats.org/officeDocument/2006/relationships/image" Target="/ppt/media/image5.jpeg" Id="Rc2be768a29774931" /><Relationship Type="http://schemas.openxmlformats.org/officeDocument/2006/relationships/notesSlide" Target="/ppt/notesSlides/notesSlide4.xml" Id="R44316d45a7404c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53443fae9b46d4" /><Relationship Type="http://schemas.openxmlformats.org/officeDocument/2006/relationships/image" Target="/ppt/media/image7.png" Id="R81eea45fb17d4c9f" /><Relationship Type="http://schemas.openxmlformats.org/officeDocument/2006/relationships/image" Target="/ppt/media/image8.png" Id="R119ed6e225f34684" /><Relationship Type="http://schemas.openxmlformats.org/officeDocument/2006/relationships/image" Target="/ppt/media/image9.png" Id="R8947328a0b754d27" /><Relationship Type="http://schemas.openxmlformats.org/officeDocument/2006/relationships/image" Target="/ppt/media/image10.png" Id="Rbcbc76194ce44e70" /><Relationship Type="http://schemas.openxmlformats.org/officeDocument/2006/relationships/notesSlide" Target="/ppt/notesSlides/notesSlide5.xml" Id="R423fa71aaa6c47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b979cc0eab5463e" /><Relationship Type="http://schemas.openxmlformats.org/officeDocument/2006/relationships/image" Target="/ppt/media/image11.png" Id="Rcd46333e69274003" /><Relationship Type="http://schemas.openxmlformats.org/officeDocument/2006/relationships/image" Target="/ppt/media/image12.png" Id="Redf4ba09780b4aef" /><Relationship Type="http://schemas.openxmlformats.org/officeDocument/2006/relationships/image" Target="/ppt/media/image13.png" Id="Reff622ef3aa646da" /><Relationship Type="http://schemas.openxmlformats.org/officeDocument/2006/relationships/image" Target="/ppt/media/image14.png" Id="R18d15628e799419c" /><Relationship Type="http://schemas.openxmlformats.org/officeDocument/2006/relationships/notesSlide" Target="/ppt/notesSlides/notesSlide6.xml" Id="R311f4bb2b7ec4f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5bcd2adebc44db" /><Relationship Type="http://schemas.openxmlformats.org/officeDocument/2006/relationships/image" Target="/ppt/media/image15.png" Id="Rba4601a7d8694bc9" /><Relationship Type="http://schemas.openxmlformats.org/officeDocument/2006/relationships/notesSlide" Target="/ppt/notesSlides/notesSlide7.xml" Id="Ra54fa68411e342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6f534d16e847d6" /><Relationship Type="http://schemas.openxmlformats.org/officeDocument/2006/relationships/image" Target="/ppt/media/image16.png" Id="R4e8f9b8a9b8e4893" /><Relationship Type="http://schemas.openxmlformats.org/officeDocument/2006/relationships/image" Target="/ppt/media/image17.png" Id="Rd106dd0af2f847dc" /><Relationship Type="http://schemas.openxmlformats.org/officeDocument/2006/relationships/image" Target="/ppt/media/image18.png" Id="R80bd5bf0ec5746ed" /><Relationship Type="http://schemas.openxmlformats.org/officeDocument/2006/relationships/notesSlide" Target="/ppt/notesSlides/notesSlide8.xml" Id="Ra0c260d752de42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f427abadbfd4102" /><Relationship Type="http://schemas.openxmlformats.org/officeDocument/2006/relationships/image" Target="/ppt/media/image19.png" Id="R0a23119d0441453f" /><Relationship Type="http://schemas.openxmlformats.org/officeDocument/2006/relationships/image" Target="/ppt/media/image20.png" Id="Rf313b78fcc7d47cd" /><Relationship Type="http://schemas.openxmlformats.org/officeDocument/2006/relationships/image" Target="/ppt/media/image21.png" Id="R02c60a4678ee482b" /><Relationship Type="http://schemas.openxmlformats.org/officeDocument/2006/relationships/notesSlide" Target="/ppt/notesSlides/notesSlide9.xml" Id="R5f3f4706b61d428a" /></Relationships>
</file>

<file path=ppt/slides/slide1.xml><?xml version="1.0" encoding="utf-8"?>
<p:sld xmlns:p="http://schemas.openxmlformats.org/presentationml/2006/main">
  <p:cSld>
    <p:bg>
      <p:bgPr>
        <a:solidFill xmlns:a="http://schemas.openxmlformats.org/drawingml/2006/main">
          <a:srgbClr val="0C110E"/>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719ffb693ea4d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9b43d92bdf34beb"/>
          <a:stretch xmlns:a="http://schemas.openxmlformats.org/drawingml/2006/main"/>
        </p:blipFill>
        <p:spPr>
          <a:xfrm xmlns:a="http://schemas.openxmlformats.org/drawingml/2006/main">
            <a:off x="552450" y="402595"/>
            <a:ext cx="2524125" cy="871211"/>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b9025f313e34abc"/>
          <a:stretch xmlns:a="http://schemas.openxmlformats.org/drawingml/2006/main"/>
        </p:blipFill>
        <p:spPr>
          <a:xfrm xmlns:a="http://schemas.openxmlformats.org/drawingml/2006/main">
            <a:off x="8305800" y="447675"/>
            <a:ext cx="742950" cy="742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B46B2FA-B208-4C27-AE0C-37D3086B00DF}"/>
              </a:ext>
            </a:extLst>
          </p:cNvPr>
          <p:cNvSpPr>
            <a:spLocks xmlns:a="http://schemas.openxmlformats.org/drawingml/2006/main" noGrp="1"/>
          </p:cNvSpPr>
          <p:nvPr/>
        </p:nvSpPr>
        <p:spPr>
          <a:xfrm xmlns:a="http://schemas.openxmlformats.org/drawingml/2006/main">
            <a:off x="9105900" y="609600"/>
            <a:ext cx="276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FFFFFF"/>
                </a:solidFill>
                <a:latin typeface="Arial"/>
                <a:ea typeface="Arial"/>
                <a:cs typeface="Arial"/>
              </a:defRPr>
            </a:pPr>
            <a:r>
              <a:rPr sz="2250" b="1">
                <a:solidFill>
                  <a:srgbClr val="FFFFFF"/>
                </a:solidFill>
                <a:latin typeface="Arial"/>
                <a:ea typeface="Arial"/>
                <a:cs typeface="Arial"/>
              </a:rPr>
              <a:t>Petanque13</a:t>
            </a:r>
          </a:p>
        </p:txBody>
      </p:sp>
      <p:sp>
        <p:nvSpPr>
          <p:cNvPr id="5" name="">
            <a:extLst xmlns:a="http://schemas.openxmlformats.org/drawingml/2006/main">
              <a:ext uri="{FF2B5EF4-FFF2-40B4-BE49-F238E27FC236}">
                <a16:creationId xmlns:a16="http://schemas.microsoft.com/office/drawing/2014/main" id="{402046C8-9955-4929-90EF-283F40021495}"/>
              </a:ext>
            </a:extLst>
          </p:cNvPr>
          <p:cNvSpPr>
            <a:spLocks xmlns:a="http://schemas.openxmlformats.org/drawingml/2006/main" noGrp="1"/>
          </p:cNvSpPr>
          <p:nvPr/>
        </p:nvSpPr>
        <p:spPr>
          <a:xfrm xmlns:a="http://schemas.openxmlformats.org/drawingml/2006/main">
            <a:off x="571500" y="1943100"/>
            <a:ext cx="6858000"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91D13E"/>
                </a:solidFill>
                <a:latin typeface="Arial"/>
                <a:ea typeface="Arial"/>
                <a:cs typeface="Arial"/>
              </a:defRPr>
            </a:pPr>
            <a:r>
              <a:rPr sz="5700" b="1">
                <a:solidFill>
                  <a:srgbClr val="91D13E"/>
                </a:solidFill>
                <a:latin typeface="Arial"/>
                <a:ea typeface="Arial"/>
                <a:cs typeface="Arial"/>
              </a:rPr>
              <a:t>Boulenciel</a:t>
            </a:r>
          </a:p>
          <a:p xmlns:a="http://schemas.openxmlformats.org/drawingml/2006/main">
            <a:pPr>
              <a:buNone/>
              <a:defRPr sz="5700" b="1">
                <a:solidFill>
                  <a:srgbClr val="91D13E"/>
                </a:solidFill>
                <a:latin typeface="Arial"/>
                <a:ea typeface="Arial"/>
                <a:cs typeface="Arial"/>
              </a:defRPr>
            </a:pPr>
            <a:r>
              <a:rPr sz="5700" b="1">
                <a:solidFill>
                  <a:srgbClr val="91D13E"/>
                </a:solidFill>
                <a:latin typeface="Arial"/>
                <a:ea typeface="Arial"/>
                <a:cs typeface="Arial"/>
              </a:rPr>
              <a:t>on court with</a:t>
            </a:r>
          </a:p>
          <a:p xmlns:a="http://schemas.openxmlformats.org/drawingml/2006/main">
            <a:pPr>
              <a:buNone/>
              <a:defRPr sz="5700" b="1">
                <a:solidFill>
                  <a:srgbClr val="91D13E"/>
                </a:solidFill>
                <a:latin typeface="Arial"/>
                <a:ea typeface="Arial"/>
                <a:cs typeface="Arial"/>
              </a:defRPr>
            </a:pPr>
            <a:r>
              <a:rPr sz="5700" b="1">
                <a:solidFill>
                  <a:srgbClr val="91D13E"/>
                </a:solidFill>
                <a:latin typeface="Arial"/>
                <a:ea typeface="Arial"/>
                <a:cs typeface="Arial"/>
              </a:rPr>
              <a:t>Petanque13</a:t>
            </a:r>
          </a:p>
        </p:txBody>
      </p:sp>
      <p:sp>
        <p:nvSpPr>
          <p:cNvPr id="6" name="">
            <a:extLst xmlns:a="http://schemas.openxmlformats.org/drawingml/2006/main">
              <a:ext uri="{FF2B5EF4-FFF2-40B4-BE49-F238E27FC236}">
                <a16:creationId xmlns:a16="http://schemas.microsoft.com/office/drawing/2014/main" id="{858D5CA9-3A5C-4E5C-AFC9-7CD105E89D50}"/>
              </a:ext>
            </a:extLst>
          </p:cNvPr>
          <p:cNvSpPr>
            <a:spLocks xmlns:a="http://schemas.openxmlformats.org/drawingml/2006/main" noGrp="1"/>
          </p:cNvSpPr>
          <p:nvPr/>
        </p:nvSpPr>
        <p:spPr>
          <a:xfrm xmlns:a="http://schemas.openxmlformats.org/drawingml/2006/main">
            <a:off x="609600" y="504825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Partnership proposal</a:t>
            </a:r>
          </a:p>
        </p:txBody>
      </p:sp>
      <p:sp>
        <p:nvSpPr>
          <p:cNvPr id="7" name="">
            <a:extLst xmlns:a="http://schemas.openxmlformats.org/drawingml/2006/main">
              <a:ext uri="{FF2B5EF4-FFF2-40B4-BE49-F238E27FC236}">
                <a16:creationId xmlns:a16="http://schemas.microsoft.com/office/drawing/2014/main" id="{44DAD527-903F-4CC4-A190-2AFDDD36153D}"/>
              </a:ext>
            </a:extLst>
          </p:cNvPr>
          <p:cNvSpPr>
            <a:spLocks xmlns:a="http://schemas.openxmlformats.org/drawingml/2006/main" noGrp="1"/>
          </p:cNvSpPr>
          <p:nvPr/>
        </p:nvSpPr>
        <p:spPr>
          <a:xfrm xmlns:a="http://schemas.openxmlformats.org/drawingml/2006/main">
            <a:off x="609600" y="5686425"/>
            <a:ext cx="647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C4CDC2"/>
                </a:solidFill>
                <a:latin typeface="Arial"/>
                <a:ea typeface="Arial"/>
                <a:cs typeface="Arial"/>
              </a:defRPr>
            </a:pPr>
            <a:r>
              <a:rPr sz="1875" b="0">
                <a:solidFill>
                  <a:srgbClr val="C4CDC2"/>
                </a:solidFill>
                <a:latin typeface="Arial"/>
                <a:ea typeface="Arial"/>
                <a:cs typeface="Arial"/>
              </a:rPr>
              <a:t>2026–2027 season</a:t>
            </a:r>
          </a:p>
        </p:txBody>
      </p:sp>
    </p:spTree>
    <p:extLst>
      <p:ext uri="{BB962C8B-B14F-4D97-AF65-F5344CB8AC3E}">
        <p14:creationId xmlns:p14="http://schemas.microsoft.com/office/powerpoint/2010/main" val="2085992846"/>
      </p:ext>
    </p:extLst>
  </p:cSld>
</p:sld>
</file>

<file path=ppt/slides/slide2.xml><?xml version="1.0" encoding="utf-8"?>
<p:sld xmlns:p="http://schemas.openxmlformats.org/presentationml/2006/main">
  <p:cSld>
    <p:bg>
      <p:bgPr>
        <a:solidFill xmlns:a="http://schemas.openxmlformats.org/drawingml/2006/main">
          <a:srgbClr val="0C110E"/>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b31412252954064"/>
          <a:stretch xmlns:a="http://schemas.openxmlformats.org/drawingml/2006/main"/>
        </p:blipFill>
        <p:spPr>
          <a:xfrm xmlns:a="http://schemas.openxmlformats.org/drawingml/2006/main">
            <a:off x="9715500" y="325010"/>
            <a:ext cx="1952625" cy="67395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97BE31-B406-4498-B53C-1D0B99F85FB1}"/>
              </a:ext>
            </a:extLst>
          </p:cNvPr>
          <p:cNvSpPr>
            <a:spLocks xmlns:a="http://schemas.openxmlformats.org/drawingml/2006/main" noGrp="1"/>
          </p:cNvSpPr>
          <p:nvPr/>
        </p:nvSpPr>
        <p:spPr>
          <a:xfrm xmlns:a="http://schemas.openxmlformats.org/drawingml/2006/main">
            <a:off x="11287125" y="6353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C4CDC2"/>
                </a:solidFill>
                <a:latin typeface="Arial"/>
                <a:ea typeface="Arial"/>
                <a:cs typeface="Arial"/>
              </a:defRPr>
            </a:pPr>
            <a:r>
              <a:rPr sz="1200" b="0">
                <a:solidFill>
                  <a:srgbClr val="C4CDC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F57DFA3-65A4-42E0-89FC-6A4039D1A14D}"/>
              </a:ext>
            </a:extLst>
          </p:cNvPr>
          <p:cNvSpPr>
            <a:spLocks xmlns:a="http://schemas.openxmlformats.org/drawingml/2006/main" noGrp="1"/>
          </p:cNvSpPr>
          <p:nvPr/>
        </p:nvSpPr>
        <p:spPr>
          <a:xfrm xmlns:a="http://schemas.openxmlformats.org/drawingml/2006/main">
            <a:off x="533400" y="381000"/>
            <a:ext cx="88011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91D13E"/>
                </a:solidFill>
                <a:latin typeface="Arial"/>
                <a:ea typeface="Arial"/>
                <a:cs typeface="Arial"/>
              </a:defRPr>
            </a:pPr>
            <a:r>
              <a:rPr sz="3675" b="1">
                <a:solidFill>
                  <a:srgbClr val="91D13E"/>
                </a:solidFill>
                <a:latin typeface="Arial"/>
                <a:ea typeface="Arial"/>
                <a:cs typeface="Arial"/>
              </a:rPr>
              <a:t>The Boulenciel collection,</a:t>
            </a:r>
          </a:p>
          <a:p xmlns:a="http://schemas.openxmlformats.org/drawingml/2006/main">
            <a:pPr>
              <a:buNone/>
              <a:defRPr sz="3675" b="1">
                <a:solidFill>
                  <a:srgbClr val="91D13E"/>
                </a:solidFill>
                <a:latin typeface="Arial"/>
                <a:ea typeface="Arial"/>
                <a:cs typeface="Arial"/>
              </a:defRPr>
            </a:pPr>
            <a:r>
              <a:rPr sz="3675" b="1">
                <a:solidFill>
                  <a:srgbClr val="91D13E"/>
                </a:solidFill>
                <a:latin typeface="Arial"/>
                <a:ea typeface="Arial"/>
                <a:cs typeface="Arial"/>
              </a:rPr>
              <a:t>in focus on Petanque13</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1e74058e8ea4761"/>
          <a:stretch xmlns:a="http://schemas.openxmlformats.org/drawingml/2006/main"/>
        </p:blipFill>
        <p:spPr>
          <a:xfrm xmlns:a="http://schemas.openxmlformats.org/drawingml/2006/main">
            <a:off x="0" y="2114550"/>
            <a:ext cx="3048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311A3A9-6534-4B97-94D4-D690EE69E464}"/>
              </a:ext>
            </a:extLst>
          </p:cNvPr>
          <p:cNvSpPr>
            <a:spLocks xmlns:a="http://schemas.openxmlformats.org/drawingml/2006/main" noGrp="1"/>
          </p:cNvSpPr>
          <p:nvPr/>
        </p:nvSpPr>
        <p:spPr>
          <a:xfrm xmlns:a="http://schemas.openxmlformats.org/drawingml/2006/main">
            <a:off x="238125" y="5343525"/>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Iris Noir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a91dc5b0cd147f7"/>
          <a:stretch xmlns:a="http://schemas.openxmlformats.org/drawingml/2006/main"/>
        </p:blipFill>
        <p:spPr>
          <a:xfrm xmlns:a="http://schemas.openxmlformats.org/drawingml/2006/main">
            <a:off x="3048000" y="2114550"/>
            <a:ext cx="3048000" cy="3048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C96D6C3-EA0E-4275-B722-4A02C586D9D1}"/>
              </a:ext>
            </a:extLst>
          </p:cNvPr>
          <p:cNvSpPr>
            <a:spLocks xmlns:a="http://schemas.openxmlformats.org/drawingml/2006/main" noGrp="1"/>
          </p:cNvSpPr>
          <p:nvPr/>
        </p:nvSpPr>
        <p:spPr>
          <a:xfrm xmlns:a="http://schemas.openxmlformats.org/drawingml/2006/main">
            <a:off x="3286125" y="5343525"/>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Iris Fuchsia</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df77a49976043c8"/>
          <a:stretch xmlns:a="http://schemas.openxmlformats.org/drawingml/2006/main"/>
        </p:blipFill>
        <p:spPr>
          <a:xfrm xmlns:a="http://schemas.openxmlformats.org/drawingml/2006/main">
            <a:off x="6096000" y="2114550"/>
            <a:ext cx="3048000" cy="3048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ABA41D4-F3F6-4B74-A69C-E5E396A8995A}"/>
              </a:ext>
            </a:extLst>
          </p:cNvPr>
          <p:cNvSpPr>
            <a:spLocks xmlns:a="http://schemas.openxmlformats.org/drawingml/2006/main" noGrp="1"/>
          </p:cNvSpPr>
          <p:nvPr/>
        </p:nvSpPr>
        <p:spPr>
          <a:xfrm xmlns:a="http://schemas.openxmlformats.org/drawingml/2006/main">
            <a:off x="6334125" y="5343525"/>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Iris Vert</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34824b3ad9247eb"/>
          <a:stretch xmlns:a="http://schemas.openxmlformats.org/drawingml/2006/main"/>
        </p:blipFill>
        <p:spPr>
          <a:xfrm xmlns:a="http://schemas.openxmlformats.org/drawingml/2006/main">
            <a:off x="9144000" y="2114550"/>
            <a:ext cx="3048000" cy="3048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3837AA09-F43F-4D4F-B63B-FAA138B44681}"/>
              </a:ext>
            </a:extLst>
          </p:cNvPr>
          <p:cNvSpPr>
            <a:spLocks xmlns:a="http://schemas.openxmlformats.org/drawingml/2006/main" noGrp="1"/>
          </p:cNvSpPr>
          <p:nvPr/>
        </p:nvSpPr>
        <p:spPr>
          <a:xfrm xmlns:a="http://schemas.openxmlformats.org/drawingml/2006/main">
            <a:off x="9382125" y="5343525"/>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FFFFFF"/>
                </a:solidFill>
                <a:latin typeface="Arial"/>
                <a:ea typeface="Arial"/>
                <a:cs typeface="Arial"/>
              </a:defRPr>
            </a:pPr>
            <a:r>
              <a:rPr sz="2100" b="1">
                <a:solidFill>
                  <a:srgbClr val="FFFFFF"/>
                </a:solidFill>
                <a:latin typeface="Arial"/>
                <a:ea typeface="Arial"/>
                <a:cs typeface="Arial"/>
              </a:rPr>
              <a:t>Iris Bleu</a:t>
            </a:r>
          </a:p>
        </p:txBody>
      </p:sp>
      <p:sp>
        <p:nvSpPr>
          <p:cNvPr id="12" name="">
            <a:extLst xmlns:a="http://schemas.openxmlformats.org/drawingml/2006/main">
              <a:ext uri="{FF2B5EF4-FFF2-40B4-BE49-F238E27FC236}">
                <a16:creationId xmlns:a16="http://schemas.microsoft.com/office/drawing/2014/main" id="{FF9FCDEA-76F8-4225-81C7-A6050D9FB15D}"/>
              </a:ext>
            </a:extLst>
          </p:cNvPr>
          <p:cNvSpPr>
            <a:spLocks xmlns:a="http://schemas.openxmlformats.org/drawingml/2006/main" noGrp="1"/>
          </p:cNvSpPr>
          <p:nvPr/>
        </p:nvSpPr>
        <p:spPr>
          <a:xfrm xmlns:a="http://schemas.openxmlformats.org/drawingml/2006/main">
            <a:off x="533400" y="60960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C4CDC2"/>
                </a:solidFill>
                <a:latin typeface="Arial"/>
                <a:ea typeface="Arial"/>
                <a:cs typeface="Arial"/>
              </a:defRPr>
            </a:pPr>
            <a:r>
              <a:rPr sz="1950" b="0">
                <a:solidFill>
                  <a:srgbClr val="C4CDC2"/>
                </a:solidFill>
                <a:latin typeface="Arial"/>
                <a:ea typeface="Arial"/>
                <a:cs typeface="Arial"/>
              </a:rPr>
              <a:t>A recognisable brand presence, from the dedicated page to tournament day.</a:t>
            </a:r>
          </a:p>
        </p:txBody>
      </p:sp>
    </p:spTree>
    <p:extLst>
      <p:ext uri="{BB962C8B-B14F-4D97-AF65-F5344CB8AC3E}">
        <p14:creationId xmlns:p14="http://schemas.microsoft.com/office/powerpoint/2010/main" val="816473520"/>
      </p:ext>
    </p:extLst>
  </p:cSld>
</p:sld>
</file>

<file path=ppt/slides/slide3.xml><?xml version="1.0" encoding="utf-8"?>
<p:sld xmlns:p="http://schemas.openxmlformats.org/presentationml/2006/main">
  <p:cSld>
    <p:bg>
      <p:bgPr>
        <a:solidFill xmlns:a="http://schemas.openxmlformats.org/drawingml/2006/main">
          <a:srgbClr val="91D13E"/>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d857903fa51446f"/>
          <a:stretch xmlns:a="http://schemas.openxmlformats.org/drawingml/2006/main"/>
        </p:blipFill>
        <p:spPr>
          <a:xfrm xmlns:a="http://schemas.openxmlformats.org/drawingml/2006/main">
            <a:off x="9715500" y="325010"/>
            <a:ext cx="1952625" cy="67395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D9824C-0D7A-4DDB-A65F-102CB0AD8760}"/>
              </a:ext>
            </a:extLst>
          </p:cNvPr>
          <p:cNvSpPr>
            <a:spLocks xmlns:a="http://schemas.openxmlformats.org/drawingml/2006/main" noGrp="1"/>
          </p:cNvSpPr>
          <p:nvPr/>
        </p:nvSpPr>
        <p:spPr>
          <a:xfrm xmlns:a="http://schemas.openxmlformats.org/drawingml/2006/main">
            <a:off x="11287125" y="6353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656E62"/>
                </a:solidFill>
                <a:latin typeface="Arial"/>
                <a:ea typeface="Arial"/>
                <a:cs typeface="Arial"/>
              </a:defRPr>
            </a:pPr>
            <a:r>
              <a:rPr sz="1200" b="0">
                <a:solidFill>
                  <a:srgbClr val="656E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B1F8400-A86F-4A4B-8F53-322AA9A20A0D}"/>
              </a:ext>
            </a:extLst>
          </p:cNvPr>
          <p:cNvSpPr>
            <a:spLocks xmlns:a="http://schemas.openxmlformats.org/drawingml/2006/main" noGrp="1"/>
          </p:cNvSpPr>
          <p:nvPr/>
        </p:nvSpPr>
        <p:spPr>
          <a:xfrm xmlns:a="http://schemas.openxmlformats.org/drawingml/2006/main">
            <a:off x="552450" y="428625"/>
            <a:ext cx="8715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750" b="1">
                <a:solidFill>
                  <a:srgbClr val="0C110E"/>
                </a:solidFill>
                <a:latin typeface="Arial"/>
                <a:ea typeface="Arial"/>
                <a:cs typeface="Arial"/>
              </a:defRPr>
            </a:pPr>
            <a:r>
              <a:rPr sz="3750" b="1">
                <a:solidFill>
                  <a:srgbClr val="0C110E"/>
                </a:solidFill>
                <a:latin typeface="Arial"/>
                <a:ea typeface="Arial"/>
                <a:cs typeface="Arial"/>
              </a:rPr>
              <a:t>The Petanque13 community</a:t>
            </a:r>
          </a:p>
        </p:txBody>
      </p:sp>
      <p:sp>
        <p:nvSpPr>
          <p:cNvPr id="4" name="">
            <a:extLst xmlns:a="http://schemas.openxmlformats.org/drawingml/2006/main">
              <a:ext uri="{FF2B5EF4-FFF2-40B4-BE49-F238E27FC236}">
                <a16:creationId xmlns:a16="http://schemas.microsoft.com/office/drawing/2014/main" id="{F565080F-81C6-4F63-A06E-1C2E2F9F8578}"/>
              </a:ext>
            </a:extLst>
          </p:cNvPr>
          <p:cNvSpPr>
            <a:spLocks xmlns:a="http://schemas.openxmlformats.org/drawingml/2006/main" noGrp="1"/>
          </p:cNvSpPr>
          <p:nvPr/>
        </p:nvSpPr>
        <p:spPr>
          <a:xfrm xmlns:a="http://schemas.openxmlformats.org/drawingml/2006/main">
            <a:off x="457200" y="1762125"/>
            <a:ext cx="68865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150" b="1">
                <a:solidFill>
                  <a:srgbClr val="0C110E"/>
                </a:solidFill>
                <a:latin typeface="Arial"/>
                <a:ea typeface="Arial"/>
                <a:cs typeface="Arial"/>
              </a:defRPr>
            </a:pPr>
            <a:r>
              <a:rPr sz="15150" b="1">
                <a:solidFill>
                  <a:srgbClr val="0C110E"/>
                </a:solidFill>
                <a:latin typeface="Arial"/>
                <a:ea typeface="Arial"/>
                <a:cs typeface="Arial"/>
              </a:rPr>
              <a:t>571</a:t>
            </a:r>
          </a:p>
        </p:txBody>
      </p:sp>
      <p:sp>
        <p:nvSpPr>
          <p:cNvPr id="5" name="">
            <a:extLst xmlns:a="http://schemas.openxmlformats.org/drawingml/2006/main">
              <a:ext uri="{FF2B5EF4-FFF2-40B4-BE49-F238E27FC236}">
                <a16:creationId xmlns:a16="http://schemas.microsoft.com/office/drawing/2014/main" id="{9CF9F404-BF66-422C-9458-53FB4F9882E5}"/>
              </a:ext>
            </a:extLst>
          </p:cNvPr>
          <p:cNvSpPr>
            <a:spLocks xmlns:a="http://schemas.openxmlformats.org/drawingml/2006/main" noGrp="1"/>
          </p:cNvSpPr>
          <p:nvPr/>
        </p:nvSpPr>
        <p:spPr>
          <a:xfrm xmlns:a="http://schemas.openxmlformats.org/drawingml/2006/main">
            <a:off x="609600" y="4171950"/>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75" b="1">
                <a:solidFill>
                  <a:srgbClr val="0C110E"/>
                </a:solidFill>
                <a:latin typeface="Arial"/>
                <a:ea typeface="Arial"/>
                <a:cs typeface="Arial"/>
              </a:defRPr>
            </a:pPr>
            <a:r>
              <a:rPr sz="3075" b="1">
                <a:solidFill>
                  <a:srgbClr val="0C110E"/>
                </a:solidFill>
                <a:latin typeface="Arial"/>
                <a:ea typeface="Arial"/>
                <a:cs typeface="Arial"/>
              </a:rPr>
              <a:t>tournaments listed</a:t>
            </a:r>
          </a:p>
        </p:txBody>
      </p:sp>
      <p:sp>
        <p:nvSpPr>
          <p:cNvPr id="6" name="">
            <a:extLst xmlns:a="http://schemas.openxmlformats.org/drawingml/2006/main">
              <a:ext uri="{FF2B5EF4-FFF2-40B4-BE49-F238E27FC236}">
                <a16:creationId xmlns:a16="http://schemas.microsoft.com/office/drawing/2014/main" id="{BF951BB6-7CEE-4690-BF56-C203D92594A9}"/>
              </a:ext>
            </a:extLst>
          </p:cNvPr>
          <p:cNvSpPr>
            <a:spLocks xmlns:a="http://schemas.openxmlformats.org/drawingml/2006/main" noGrp="1"/>
          </p:cNvSpPr>
          <p:nvPr/>
        </p:nvSpPr>
        <p:spPr>
          <a:xfrm xmlns:a="http://schemas.openxmlformats.org/drawingml/2006/main">
            <a:off x="7943850" y="1943100"/>
            <a:ext cx="333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75" b="1">
                <a:solidFill>
                  <a:srgbClr val="0C110E"/>
                </a:solidFill>
                <a:latin typeface="Arial"/>
                <a:ea typeface="Arial"/>
                <a:cs typeface="Arial"/>
              </a:defRPr>
            </a:pPr>
            <a:r>
              <a:rPr sz="5475" b="1">
                <a:solidFill>
                  <a:srgbClr val="0C110E"/>
                </a:solidFill>
                <a:latin typeface="Arial"/>
                <a:ea typeface="Arial"/>
                <a:cs typeface="Arial"/>
              </a:rPr>
              <a:t>208+</a:t>
            </a:r>
          </a:p>
        </p:txBody>
      </p:sp>
      <p:sp>
        <p:nvSpPr>
          <p:cNvPr id="7" name="">
            <a:extLst xmlns:a="http://schemas.openxmlformats.org/drawingml/2006/main">
              <a:ext uri="{FF2B5EF4-FFF2-40B4-BE49-F238E27FC236}">
                <a16:creationId xmlns:a16="http://schemas.microsoft.com/office/drawing/2014/main" id="{762CB07B-E66A-444D-B42A-F8719B453015}"/>
              </a:ext>
            </a:extLst>
          </p:cNvPr>
          <p:cNvSpPr>
            <a:spLocks xmlns:a="http://schemas.openxmlformats.org/drawingml/2006/main" noGrp="1"/>
          </p:cNvSpPr>
          <p:nvPr/>
        </p:nvSpPr>
        <p:spPr>
          <a:xfrm xmlns:a="http://schemas.openxmlformats.org/drawingml/2006/main">
            <a:off x="8001000" y="2905125"/>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0C110E"/>
                </a:solidFill>
                <a:latin typeface="Arial"/>
                <a:ea typeface="Arial"/>
                <a:cs typeface="Arial"/>
              </a:defRPr>
            </a:pPr>
            <a:r>
              <a:rPr sz="2025" b="0">
                <a:solidFill>
                  <a:srgbClr val="0C110E"/>
                </a:solidFill>
                <a:latin typeface="Arial"/>
                <a:ea typeface="Arial"/>
                <a:cs typeface="Arial"/>
              </a:rPr>
              <a:t>active clubs</a:t>
            </a:r>
          </a:p>
        </p:txBody>
      </p:sp>
      <p:sp>
        <p:nvSpPr>
          <p:cNvPr id="8" name="">
            <a:extLst xmlns:a="http://schemas.openxmlformats.org/drawingml/2006/main">
              <a:ext uri="{FF2B5EF4-FFF2-40B4-BE49-F238E27FC236}">
                <a16:creationId xmlns:a16="http://schemas.microsoft.com/office/drawing/2014/main" id="{0C8E2088-1588-4099-8950-767FE6E3079F}"/>
              </a:ext>
            </a:extLst>
          </p:cNvPr>
          <p:cNvSpPr>
            <a:spLocks xmlns:a="http://schemas.openxmlformats.org/drawingml/2006/main" noGrp="1"/>
          </p:cNvSpPr>
          <p:nvPr/>
        </p:nvSpPr>
        <p:spPr>
          <a:xfrm xmlns:a="http://schemas.openxmlformats.org/drawingml/2006/main">
            <a:off x="7877175" y="3838575"/>
            <a:ext cx="3810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100" b="1">
                <a:solidFill>
                  <a:srgbClr val="0C110E"/>
                </a:solidFill>
                <a:latin typeface="Arial"/>
                <a:ea typeface="Arial"/>
                <a:cs typeface="Arial"/>
              </a:defRPr>
            </a:pPr>
            <a:r>
              <a:rPr sz="5100" b="1">
                <a:solidFill>
                  <a:srgbClr val="0C110E"/>
                </a:solidFill>
                <a:latin typeface="Arial"/>
                <a:ea typeface="Arial"/>
                <a:cs typeface="Arial"/>
              </a:rPr>
              <a:t>50,000+</a:t>
            </a:r>
          </a:p>
        </p:txBody>
      </p:sp>
      <p:sp>
        <p:nvSpPr>
          <p:cNvPr id="9" name="">
            <a:extLst xmlns:a="http://schemas.openxmlformats.org/drawingml/2006/main">
              <a:ext uri="{FF2B5EF4-FFF2-40B4-BE49-F238E27FC236}">
                <a16:creationId xmlns:a16="http://schemas.microsoft.com/office/drawing/2014/main" id="{72A22ABE-2CA4-4368-8E6D-55AAE2A5E6CC}"/>
              </a:ext>
            </a:extLst>
          </p:cNvPr>
          <p:cNvSpPr>
            <a:spLocks xmlns:a="http://schemas.openxmlformats.org/drawingml/2006/main" noGrp="1"/>
          </p:cNvSpPr>
          <p:nvPr/>
        </p:nvSpPr>
        <p:spPr>
          <a:xfrm xmlns:a="http://schemas.openxmlformats.org/drawingml/2006/main">
            <a:off x="8001000" y="4791075"/>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0C110E"/>
                </a:solidFill>
                <a:latin typeface="Arial"/>
                <a:ea typeface="Arial"/>
                <a:cs typeface="Arial"/>
              </a:defRPr>
            </a:pPr>
            <a:r>
              <a:rPr sz="2025" b="0">
                <a:solidFill>
                  <a:srgbClr val="0C110E"/>
                </a:solidFill>
                <a:latin typeface="Arial"/>
                <a:ea typeface="Arial"/>
                <a:cs typeface="Arial"/>
              </a:rPr>
              <a:t>visits per year</a:t>
            </a:r>
          </a:p>
        </p:txBody>
      </p:sp>
      <p:sp>
        <p:nvSpPr>
          <p:cNvPr id="10" name="">
            <a:extLst xmlns:a="http://schemas.openxmlformats.org/drawingml/2006/main">
              <a:ext uri="{FF2B5EF4-FFF2-40B4-BE49-F238E27FC236}">
                <a16:creationId xmlns:a16="http://schemas.microsoft.com/office/drawing/2014/main" id="{ECCDCF2E-AA73-4ABA-8767-2A9CE91CDD1C}"/>
              </a:ext>
            </a:extLst>
          </p:cNvPr>
          <p:cNvSpPr>
            <a:spLocks xmlns:a="http://schemas.openxmlformats.org/drawingml/2006/main" noGrp="1"/>
          </p:cNvSpPr>
          <p:nvPr/>
        </p:nvSpPr>
        <p:spPr>
          <a:xfrm xmlns:a="http://schemas.openxmlformats.org/drawingml/2006/main">
            <a:off x="609600" y="56959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0C110E"/>
                </a:solidFill>
                <a:latin typeface="Arial"/>
                <a:ea typeface="Arial"/>
                <a:cs typeface="Arial"/>
              </a:defRPr>
            </a:pPr>
            <a:r>
              <a:rPr sz="2025" b="0">
                <a:solidFill>
                  <a:srgbClr val="0C110E"/>
                </a:solidFill>
                <a:latin typeface="Arial"/>
                <a:ea typeface="Arial"/>
                <a:cs typeface="Arial"/>
              </a:rPr>
              <a:t>Reaching players and organisers across Belgium, in Dutch and French.</a:t>
            </a:r>
          </a:p>
        </p:txBody>
      </p:sp>
      <p:sp>
        <p:nvSpPr>
          <p:cNvPr id="11" name="">
            <a:extLst xmlns:a="http://schemas.openxmlformats.org/drawingml/2006/main">
              <a:ext uri="{FF2B5EF4-FFF2-40B4-BE49-F238E27FC236}">
                <a16:creationId xmlns:a16="http://schemas.microsoft.com/office/drawing/2014/main" id="{D6737B11-35F4-49E4-9A5A-38C4FEFF7DC2}"/>
              </a:ext>
            </a:extLst>
          </p:cNvPr>
          <p:cNvSpPr>
            <a:spLocks xmlns:a="http://schemas.openxmlformats.org/drawingml/2006/main" noGrp="1"/>
          </p:cNvSpPr>
          <p:nvPr/>
        </p:nvSpPr>
        <p:spPr>
          <a:xfrm xmlns:a="http://schemas.openxmlformats.org/drawingml/2006/main">
            <a:off x="609600" y="631507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0">
                <a:solidFill>
                  <a:srgbClr val="0C110E"/>
                </a:solidFill>
                <a:latin typeface="Arial"/>
                <a:ea typeface="Arial"/>
                <a:cs typeface="Arial"/>
              </a:defRPr>
            </a:pPr>
            <a:r>
              <a:rPr sz="1125" b="0">
                <a:solidFill>
                  <a:srgbClr val="0C110E"/>
                </a:solidFill>
                <a:latin typeface="Arial"/>
                <a:ea typeface="Arial"/>
                <a:cs typeface="Arial"/>
              </a:rPr>
              <a:t>571 tournaments as of 8 October 2026. Other figures: 2026–2027 dossier. Visits are not unique visitors.</a:t>
            </a:r>
          </a:p>
        </p:txBody>
      </p:sp>
    </p:spTree>
    <p:extLst>
      <p:ext uri="{BB962C8B-B14F-4D97-AF65-F5344CB8AC3E}">
        <p14:creationId xmlns:p14="http://schemas.microsoft.com/office/powerpoint/2010/main" val="1390823227"/>
      </p:ext>
    </p:extLst>
  </p:cSld>
</p:sld>
</file>

<file path=ppt/slides/slide4.xml><?xml version="1.0" encoding="utf-8"?>
<p:sld xmlns:p="http://schemas.openxmlformats.org/presentationml/2006/main">
  <p:cSld>
    <p:bg>
      <p:bgPr>
        <a:solidFill xmlns:a="http://schemas.openxmlformats.org/drawingml/2006/main">
          <a:srgbClr val="0C110E"/>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66a9fa06ab146dc"/>
          <a:stretch xmlns:a="http://schemas.openxmlformats.org/drawingml/2006/main"/>
        </p:blipFill>
        <p:spPr>
          <a:xfrm xmlns:a="http://schemas.openxmlformats.org/drawingml/2006/main">
            <a:off x="9715500" y="325010"/>
            <a:ext cx="1952625" cy="67395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9859983-AB94-4C9F-B927-1EF23324FCEC}"/>
              </a:ext>
            </a:extLst>
          </p:cNvPr>
          <p:cNvSpPr>
            <a:spLocks xmlns:a="http://schemas.openxmlformats.org/drawingml/2006/main" noGrp="1"/>
          </p:cNvSpPr>
          <p:nvPr/>
        </p:nvSpPr>
        <p:spPr>
          <a:xfrm xmlns:a="http://schemas.openxmlformats.org/drawingml/2006/main">
            <a:off x="11287125" y="6353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C4CDC2"/>
                </a:solidFill>
                <a:latin typeface="Arial"/>
                <a:ea typeface="Arial"/>
                <a:cs typeface="Arial"/>
              </a:defRPr>
            </a:pPr>
            <a:r>
              <a:rPr sz="1200" b="0">
                <a:solidFill>
                  <a:srgbClr val="C4CDC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520BFCBE-6E66-4E3C-A416-D6193052BE19}"/>
              </a:ext>
            </a:extLst>
          </p:cNvPr>
          <p:cNvSpPr>
            <a:spLocks xmlns:a="http://schemas.openxmlformats.org/drawingml/2006/main" noGrp="1"/>
          </p:cNvSpPr>
          <p:nvPr/>
        </p:nvSpPr>
        <p:spPr>
          <a:xfrm xmlns:a="http://schemas.openxmlformats.org/drawingml/2006/main">
            <a:off x="523875" y="1371600"/>
            <a:ext cx="57435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725" b="1">
                <a:solidFill>
                  <a:srgbClr val="91D13E"/>
                </a:solidFill>
                <a:latin typeface="Arial"/>
                <a:ea typeface="Arial"/>
                <a:cs typeface="Arial"/>
              </a:defRPr>
            </a:pPr>
            <a:r>
              <a:rPr sz="4725" b="1">
                <a:solidFill>
                  <a:srgbClr val="91D13E"/>
                </a:solidFill>
                <a:latin typeface="Arial"/>
                <a:ea typeface="Arial"/>
                <a:cs typeface="Arial"/>
              </a:rPr>
              <a:t>Your brand.</a:t>
            </a:r>
          </a:p>
          <a:p xmlns:a="http://schemas.openxmlformats.org/drawingml/2006/main">
            <a:pPr>
              <a:buNone/>
              <a:defRPr sz="4725" b="1">
                <a:solidFill>
                  <a:srgbClr val="91D13E"/>
                </a:solidFill>
                <a:latin typeface="Arial"/>
                <a:ea typeface="Arial"/>
                <a:cs typeface="Arial"/>
              </a:defRPr>
            </a:pPr>
            <a:r>
              <a:rPr sz="4725" b="1">
                <a:solidFill>
                  <a:srgbClr val="91D13E"/>
                </a:solidFill>
                <a:latin typeface="Arial"/>
                <a:ea typeface="Arial"/>
                <a:cs typeface="Arial"/>
              </a:rPr>
              <a:t>Its own space.</a:t>
            </a:r>
          </a:p>
        </p:txBody>
      </p:sp>
      <p:sp>
        <p:nvSpPr>
          <p:cNvPr id="4" name="">
            <a:extLst xmlns:a="http://schemas.openxmlformats.org/drawingml/2006/main">
              <a:ext uri="{FF2B5EF4-FFF2-40B4-BE49-F238E27FC236}">
                <a16:creationId xmlns:a16="http://schemas.microsoft.com/office/drawing/2014/main" id="{3C314AE6-D489-42E1-B542-041E7C4040E4}"/>
              </a:ext>
            </a:extLst>
          </p:cNvPr>
          <p:cNvSpPr>
            <a:spLocks xmlns:a="http://schemas.openxmlformats.org/drawingml/2006/main" noGrp="1"/>
          </p:cNvSpPr>
          <p:nvPr/>
        </p:nvSpPr>
        <p:spPr>
          <a:xfrm xmlns:a="http://schemas.openxmlformats.org/drawingml/2006/main">
            <a:off x="561975" y="3295650"/>
            <a:ext cx="5438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FFFFFF"/>
                </a:solidFill>
                <a:latin typeface="Arial"/>
                <a:ea typeface="Arial"/>
                <a:cs typeface="Arial"/>
              </a:defRPr>
            </a:pPr>
            <a:r>
              <a:rPr sz="2475" b="1">
                <a:solidFill>
                  <a:srgbClr val="FFFFFF"/>
                </a:solidFill>
                <a:latin typeface="Arial"/>
                <a:ea typeface="Arial"/>
                <a:cs typeface="Arial"/>
              </a:rPr>
              <a:t>A dedicated page for</a:t>
            </a:r>
          </a:p>
          <a:p xmlns:a="http://schemas.openxmlformats.org/drawingml/2006/main">
            <a:pPr>
              <a:buNone/>
              <a:defRPr sz="2475" b="1">
                <a:solidFill>
                  <a:srgbClr val="FFFFFF"/>
                </a:solidFill>
                <a:latin typeface="Arial"/>
                <a:ea typeface="Arial"/>
                <a:cs typeface="Arial"/>
              </a:defRPr>
            </a:pPr>
            <a:r>
              <a:rPr sz="2475" b="1">
                <a:solidFill>
                  <a:srgbClr val="FFFFFF"/>
                </a:solidFill>
                <a:latin typeface="Arial"/>
                <a:ea typeface="Arial"/>
                <a:cs typeface="Arial"/>
              </a:rPr>
              <a:t>the Boulenciel collection.</a:t>
            </a:r>
          </a:p>
        </p:txBody>
      </p:sp>
      <p:sp>
        <p:nvSpPr>
          <p:cNvPr id="5" name="">
            <a:extLst xmlns:a="http://schemas.openxmlformats.org/drawingml/2006/main">
              <a:ext uri="{FF2B5EF4-FFF2-40B4-BE49-F238E27FC236}">
                <a16:creationId xmlns:a16="http://schemas.microsoft.com/office/drawing/2014/main" id="{D80A2E94-2FEF-44D9-9C92-C5C8E2E67228}"/>
              </a:ext>
            </a:extLst>
          </p:cNvPr>
          <p:cNvSpPr>
            <a:spLocks xmlns:a="http://schemas.openxmlformats.org/drawingml/2006/main" noGrp="1"/>
          </p:cNvSpPr>
          <p:nvPr/>
        </p:nvSpPr>
        <p:spPr>
          <a:xfrm xmlns:a="http://schemas.openxmlformats.org/drawingml/2006/main">
            <a:off x="571500" y="4638675"/>
            <a:ext cx="52959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C4CDC2"/>
                </a:solidFill>
                <a:latin typeface="Arial"/>
                <a:ea typeface="Arial"/>
                <a:cs typeface="Arial"/>
              </a:defRPr>
            </a:pPr>
            <a:r>
              <a:rPr sz="2100" b="0">
                <a:solidFill>
                  <a:srgbClr val="C4CDC2"/>
                </a:solidFill>
                <a:latin typeface="Arial"/>
                <a:ea typeface="Arial"/>
                <a:cs typeface="Arial"/>
              </a:rPr>
              <a:t>18 sets, product photography</a:t>
            </a:r>
          </a:p>
          <a:p xmlns:a="http://schemas.openxmlformats.org/drawingml/2006/main">
            <a:pPr>
              <a:buNone/>
              <a:defRPr sz="2100" b="0">
                <a:solidFill>
                  <a:srgbClr val="C4CDC2"/>
                </a:solidFill>
                <a:latin typeface="Arial"/>
                <a:ea typeface="Arial"/>
                <a:cs typeface="Arial"/>
              </a:defRPr>
            </a:pPr>
            <a:r>
              <a:rPr sz="2100" b="0">
                <a:solidFill>
                  <a:srgbClr val="C4CDC2"/>
                </a:solidFill>
                <a:latin typeface="Arial"/>
                <a:ea typeface="Arial"/>
                <a:cs typeface="Arial"/>
              </a:rPr>
              <a:t>and a guide to choosing boules.</a:t>
            </a:r>
          </a:p>
          <a:p xmlns:a="http://schemas.openxmlformats.org/drawingml/2006/main">
            <a:pPr>
              <a:buNone/>
              <a:defRPr sz="2100" b="0">
                <a:solidFill>
                  <a:srgbClr val="C4CDC2"/>
                </a:solidFill>
                <a:latin typeface="Arial"/>
                <a:ea typeface="Arial"/>
                <a:cs typeface="Arial"/>
              </a:defRPr>
            </a:pPr>
            <a:r>
              <a:rPr sz="2100" b="0">
                <a:solidFill>
                  <a:srgbClr val="C4CDC2"/>
                </a:solidFill>
                <a:latin typeface="Arial"/>
                <a:ea typeface="Arial"/>
                <a:cs typeface="Arial"/>
              </a:rPr>
              <a:t>In Dutch and French.</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2be768a29774931"/>
          <a:stretch xmlns:a="http://schemas.openxmlformats.org/drawingml/2006/main"/>
        </p:blipFill>
        <p:spPr>
          <a:xfrm xmlns:a="http://schemas.openxmlformats.org/drawingml/2006/main">
            <a:off x="6606652" y="1466850"/>
            <a:ext cx="4836571" cy="46386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D8F61E0-B695-4CE3-914E-36A80DC8958C}"/>
              </a:ext>
            </a:extLst>
          </p:cNvPr>
          <p:cNvSpPr>
            <a:spLocks xmlns:a="http://schemas.openxmlformats.org/drawingml/2006/main" noGrp="1"/>
          </p:cNvSpPr>
          <p:nvPr/>
        </p:nvSpPr>
        <p:spPr>
          <a:xfrm xmlns:a="http://schemas.openxmlformats.org/drawingml/2006/main">
            <a:off x="7000875" y="6153150"/>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91D13E"/>
                </a:solidFill>
                <a:latin typeface="Arial"/>
                <a:ea typeface="Arial"/>
                <a:cs typeface="Arial"/>
              </a:defRPr>
            </a:pPr>
            <a:r>
              <a:rPr sz="1275" b="1">
                <a:solidFill>
                  <a:srgbClr val="91D13E"/>
                </a:solidFill>
                <a:latin typeface="Arial"/>
                <a:ea typeface="Arial"/>
                <a:cs typeface="Arial"/>
              </a:rPr>
              <a:t>LOCAL PREVIEW</a:t>
            </a:r>
          </a:p>
        </p:txBody>
      </p:sp>
    </p:spTree>
    <p:extLst>
      <p:ext uri="{BB962C8B-B14F-4D97-AF65-F5344CB8AC3E}">
        <p14:creationId xmlns:p14="http://schemas.microsoft.com/office/powerpoint/2010/main" val="6457030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1eea45fb17d4c9f"/>
          <a:stretch xmlns:a="http://schemas.openxmlformats.org/drawingml/2006/main"/>
        </p:blipFill>
        <p:spPr>
          <a:xfrm xmlns:a="http://schemas.openxmlformats.org/drawingml/2006/main">
            <a:off x="9715500" y="325010"/>
            <a:ext cx="1952625" cy="67395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D7E8763-B10F-48AE-AE13-4A793BC26F2D}"/>
              </a:ext>
            </a:extLst>
          </p:cNvPr>
          <p:cNvSpPr>
            <a:spLocks xmlns:a="http://schemas.openxmlformats.org/drawingml/2006/main" noGrp="1"/>
          </p:cNvSpPr>
          <p:nvPr/>
        </p:nvSpPr>
        <p:spPr>
          <a:xfrm xmlns:a="http://schemas.openxmlformats.org/drawingml/2006/main">
            <a:off x="11287125" y="6353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656E62"/>
                </a:solidFill>
                <a:latin typeface="Arial"/>
                <a:ea typeface="Arial"/>
                <a:cs typeface="Arial"/>
              </a:defRPr>
            </a:pPr>
            <a:r>
              <a:rPr sz="1200" b="0">
                <a:solidFill>
                  <a:srgbClr val="656E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0E9C563-CE35-4847-83FF-B5A604BCB4B3}"/>
              </a:ext>
            </a:extLst>
          </p:cNvPr>
          <p:cNvSpPr>
            <a:spLocks xmlns:a="http://schemas.openxmlformats.org/drawingml/2006/main" noGrp="1"/>
          </p:cNvSpPr>
          <p:nvPr/>
        </p:nvSpPr>
        <p:spPr>
          <a:xfrm xmlns:a="http://schemas.openxmlformats.org/drawingml/2006/main">
            <a:off x="514350" y="476250"/>
            <a:ext cx="8924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0C110E"/>
                </a:solidFill>
                <a:latin typeface="Arial"/>
                <a:ea typeface="Arial"/>
                <a:cs typeface="Arial"/>
              </a:defRPr>
            </a:pPr>
            <a:r>
              <a:rPr sz="3525" b="1">
                <a:solidFill>
                  <a:srgbClr val="0C110E"/>
                </a:solidFill>
                <a:latin typeface="Arial"/>
                <a:ea typeface="Arial"/>
                <a:cs typeface="Arial"/>
              </a:rPr>
              <a:t>Boulenciel on the match card</a:t>
            </a:r>
          </a:p>
        </p:txBody>
      </p:sp>
      <p:sp>
        <p:nvSpPr>
          <p:cNvPr id="4" name="">
            <a:extLst xmlns:a="http://schemas.openxmlformats.org/drawingml/2006/main">
              <a:ext uri="{FF2B5EF4-FFF2-40B4-BE49-F238E27FC236}">
                <a16:creationId xmlns:a16="http://schemas.microsoft.com/office/drawing/2014/main" id="{120B1951-88A9-4C1A-B7E1-09DDD4A442C6}"/>
              </a:ext>
            </a:extLst>
          </p:cNvPr>
          <p:cNvSpPr>
            <a:spLocks xmlns:a="http://schemas.openxmlformats.org/drawingml/2006/main" noGrp="1"/>
          </p:cNvSpPr>
          <p:nvPr/>
        </p:nvSpPr>
        <p:spPr>
          <a:xfrm xmlns:a="http://schemas.openxmlformats.org/drawingml/2006/main">
            <a:off x="542925" y="1381125"/>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545D51"/>
                </a:solidFill>
                <a:latin typeface="Arial"/>
                <a:ea typeface="Arial"/>
                <a:cs typeface="Arial"/>
              </a:defRPr>
            </a:pPr>
            <a:r>
              <a:rPr sz="2250" b="0">
                <a:solidFill>
                  <a:srgbClr val="545D51"/>
                </a:solidFill>
                <a:latin typeface="Arial"/>
                <a:ea typeface="Arial"/>
                <a:cs typeface="Arial"/>
              </a:rPr>
              <a:t>Your brand stays with the players, round after round.</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19ed6e225f34684"/>
          <a:stretch xmlns:a="http://schemas.openxmlformats.org/drawingml/2006/main"/>
        </p:blipFill>
        <p:spPr>
          <a:xfrm xmlns:a="http://schemas.openxmlformats.org/drawingml/2006/main">
            <a:off x="516449" y="2076450"/>
            <a:ext cx="8568303" cy="424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D2619C3-AC2E-400F-B934-1AD26E2791BB}"/>
              </a:ext>
            </a:extLst>
          </p:cNvPr>
          <p:cNvSpPr>
            <a:spLocks xmlns:a="http://schemas.openxmlformats.org/drawingml/2006/main" noGrp="1"/>
          </p:cNvSpPr>
          <p:nvPr/>
        </p:nvSpPr>
        <p:spPr>
          <a:xfrm xmlns:a="http://schemas.openxmlformats.org/drawingml/2006/main">
            <a:off x="6286500" y="2085975"/>
            <a:ext cx="2800350" cy="6953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7A2CF7-0E32-4C38-9272-640EAB1E142D}"/>
              </a:ext>
            </a:extLst>
          </p:cNvPr>
          <p:cNvSpPr>
            <a:spLocks xmlns:a="http://schemas.openxmlformats.org/drawingml/2006/main" noGrp="1"/>
          </p:cNvSpPr>
          <p:nvPr/>
        </p:nvSpPr>
        <p:spPr>
          <a:xfrm xmlns:a="http://schemas.openxmlformats.org/drawingml/2006/main">
            <a:off x="7143750" y="2714625"/>
            <a:ext cx="1943100" cy="3505200"/>
          </a:xfrm>
          <a:prstGeom xmlns:a="http://schemas.openxmlformats.org/drawingml/2006/main" prst="rect">
            <a:avLst/>
          </a:prstGeom>
          <a:solidFill xmlns:a="http://schemas.openxmlformats.org/drawingml/2006/main">
            <a:srgbClr val="91D13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94BEDB-047F-46BD-BAE8-D76A758EBEE9}"/>
              </a:ext>
            </a:extLst>
          </p:cNvPr>
          <p:cNvSpPr>
            <a:spLocks xmlns:a="http://schemas.openxmlformats.org/drawingml/2006/main" noGrp="1"/>
          </p:cNvSpPr>
          <p:nvPr/>
        </p:nvSpPr>
        <p:spPr>
          <a:xfrm xmlns:a="http://schemas.openxmlformats.org/drawingml/2006/main">
            <a:off x="7248525" y="2933700"/>
            <a:ext cx="1781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1">
                <a:solidFill>
                  <a:srgbClr val="0C110E"/>
                </a:solidFill>
                <a:latin typeface="Arial"/>
                <a:ea typeface="Arial"/>
                <a:cs typeface="Arial"/>
              </a:defRPr>
            </a:pPr>
            <a:r>
              <a:rPr sz="975" b="1">
                <a:solidFill>
                  <a:srgbClr val="0C110E"/>
                </a:solidFill>
                <a:latin typeface="Arial"/>
                <a:ea typeface="Arial"/>
                <a:cs typeface="Arial"/>
              </a:rPr>
              <a:t>PROPOSED PARTNER</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947328a0b754d27"/>
          <a:stretch xmlns:a="http://schemas.openxmlformats.org/drawingml/2006/main"/>
        </p:blipFill>
        <p:spPr>
          <a:xfrm xmlns:a="http://schemas.openxmlformats.org/drawingml/2006/main">
            <a:off x="7259811" y="3581400"/>
            <a:ext cx="1710977" cy="59055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cbc76194ce44e70"/>
          <a:stretch xmlns:a="http://schemas.openxmlformats.org/drawingml/2006/main"/>
        </p:blipFill>
        <p:spPr>
          <a:xfrm xmlns:a="http://schemas.openxmlformats.org/drawingml/2006/main">
            <a:off x="7677150" y="4667250"/>
            <a:ext cx="914400" cy="9144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938269E-0524-4363-AE2B-39A6065DBD1F}"/>
              </a:ext>
            </a:extLst>
          </p:cNvPr>
          <p:cNvSpPr>
            <a:spLocks xmlns:a="http://schemas.openxmlformats.org/drawingml/2006/main" noGrp="1"/>
          </p:cNvSpPr>
          <p:nvPr/>
        </p:nvSpPr>
        <p:spPr>
          <a:xfrm xmlns:a="http://schemas.openxmlformats.org/drawingml/2006/main">
            <a:off x="9496425" y="3181350"/>
            <a:ext cx="228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C110E"/>
                </a:solidFill>
                <a:latin typeface="Arial"/>
                <a:ea typeface="Arial"/>
                <a:cs typeface="Arial"/>
              </a:defRPr>
            </a:pPr>
            <a:r>
              <a:rPr sz="2475" b="1">
                <a:solidFill>
                  <a:srgbClr val="0C110E"/>
                </a:solidFill>
                <a:latin typeface="Arial"/>
                <a:ea typeface="Arial"/>
                <a:cs typeface="Arial"/>
              </a:rPr>
              <a:t>Your logo,</a:t>
            </a:r>
          </a:p>
          <a:p xmlns:a="http://schemas.openxmlformats.org/drawingml/2006/main">
            <a:pPr>
              <a:buNone/>
              <a:defRPr sz="2475" b="1">
                <a:solidFill>
                  <a:srgbClr val="0C110E"/>
                </a:solidFill>
                <a:latin typeface="Arial"/>
                <a:ea typeface="Arial"/>
                <a:cs typeface="Arial"/>
              </a:defRPr>
            </a:pPr>
            <a:r>
              <a:rPr sz="2475" b="1">
                <a:solidFill>
                  <a:srgbClr val="0C110E"/>
                </a:solidFill>
                <a:latin typeface="Arial"/>
                <a:ea typeface="Arial"/>
                <a:cs typeface="Arial"/>
              </a:rPr>
              <a:t>every round.</a:t>
            </a:r>
          </a:p>
        </p:txBody>
      </p:sp>
      <p:sp>
        <p:nvSpPr>
          <p:cNvPr id="12" name="">
            <a:extLst xmlns:a="http://schemas.openxmlformats.org/drawingml/2006/main">
              <a:ext uri="{FF2B5EF4-FFF2-40B4-BE49-F238E27FC236}">
                <a16:creationId xmlns:a16="http://schemas.microsoft.com/office/drawing/2014/main" id="{A476BFF9-6038-4E91-BC11-D00A31E6985F}"/>
              </a:ext>
            </a:extLst>
          </p:cNvPr>
          <p:cNvSpPr>
            <a:spLocks xmlns:a="http://schemas.openxmlformats.org/drawingml/2006/main" noGrp="1"/>
          </p:cNvSpPr>
          <p:nvPr/>
        </p:nvSpPr>
        <p:spPr>
          <a:xfrm xmlns:a="http://schemas.openxmlformats.org/drawingml/2006/main">
            <a:off x="542925" y="63341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35D50"/>
                </a:solidFill>
                <a:latin typeface="Arial"/>
                <a:ea typeface="Arial"/>
                <a:cs typeface="Arial"/>
              </a:defRPr>
            </a:pPr>
            <a:r>
              <a:rPr sz="1275" b="0">
                <a:solidFill>
                  <a:srgbClr val="535D50"/>
                </a:solidFill>
                <a:latin typeface="Arial"/>
                <a:ea typeface="Arial"/>
                <a:cs typeface="Arial"/>
              </a:rPr>
              <a:t>Logo placement concept. Integration on Match13 cards follows an agreement.</a:t>
            </a:r>
          </a:p>
        </p:txBody>
      </p:sp>
    </p:spTree>
    <p:extLst>
      <p:ext uri="{BB962C8B-B14F-4D97-AF65-F5344CB8AC3E}">
        <p14:creationId xmlns:p14="http://schemas.microsoft.com/office/powerpoint/2010/main" val="1661958958"/>
      </p:ext>
    </p:extLst>
  </p:cSld>
</p:sld>
</file>

<file path=ppt/slides/slide6.xml><?xml version="1.0" encoding="utf-8"?>
<p:sld xmlns:p="http://schemas.openxmlformats.org/presentationml/2006/main">
  <p:cSld>
    <p:bg>
      <p:bgPr>
        <a:solidFill xmlns:a="http://schemas.openxmlformats.org/drawingml/2006/main">
          <a:srgbClr val="0C110E"/>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d46333e69274003"/>
          <a:stretch xmlns:a="http://schemas.openxmlformats.org/drawingml/2006/main"/>
        </p:blipFill>
        <p:spPr>
          <a:xfrm xmlns:a="http://schemas.openxmlformats.org/drawingml/2006/main">
            <a:off x="9715500" y="325010"/>
            <a:ext cx="1952625" cy="67395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F828B8B-7D4D-4D2B-AD98-BF6974EDDFF6}"/>
              </a:ext>
            </a:extLst>
          </p:cNvPr>
          <p:cNvSpPr>
            <a:spLocks xmlns:a="http://schemas.openxmlformats.org/drawingml/2006/main" noGrp="1"/>
          </p:cNvSpPr>
          <p:nvPr/>
        </p:nvSpPr>
        <p:spPr>
          <a:xfrm xmlns:a="http://schemas.openxmlformats.org/drawingml/2006/main">
            <a:off x="11287125" y="6353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C4CDC2"/>
                </a:solidFill>
                <a:latin typeface="Arial"/>
                <a:ea typeface="Arial"/>
                <a:cs typeface="Arial"/>
              </a:defRPr>
            </a:pPr>
            <a:r>
              <a:rPr sz="1200" b="0">
                <a:solidFill>
                  <a:srgbClr val="C4CDC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BEAE6D2-93FF-46C2-9C6B-349807C05D8A}"/>
              </a:ext>
            </a:extLst>
          </p:cNvPr>
          <p:cNvSpPr>
            <a:spLocks xmlns:a="http://schemas.openxmlformats.org/drawingml/2006/main" noGrp="1"/>
          </p:cNvSpPr>
          <p:nvPr/>
        </p:nvSpPr>
        <p:spPr>
          <a:xfrm xmlns:a="http://schemas.openxmlformats.org/drawingml/2006/main">
            <a:off x="542925" y="495300"/>
            <a:ext cx="8896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91D13E"/>
                </a:solidFill>
                <a:latin typeface="Arial"/>
                <a:ea typeface="Arial"/>
                <a:cs typeface="Arial"/>
              </a:defRPr>
            </a:pPr>
            <a:r>
              <a:rPr sz="3450" b="1">
                <a:solidFill>
                  <a:srgbClr val="91D13E"/>
                </a:solidFill>
                <a:latin typeface="Arial"/>
                <a:ea typeface="Arial"/>
                <a:cs typeface="Arial"/>
              </a:rPr>
              <a:t>Boulenciel on the big screen</a:t>
            </a:r>
          </a:p>
        </p:txBody>
      </p:sp>
      <p:sp>
        <p:nvSpPr>
          <p:cNvPr id="4" name="">
            <a:extLst xmlns:a="http://schemas.openxmlformats.org/drawingml/2006/main">
              <a:ext uri="{FF2B5EF4-FFF2-40B4-BE49-F238E27FC236}">
                <a16:creationId xmlns:a16="http://schemas.microsoft.com/office/drawing/2014/main" id="{0D1C2811-B4E7-4526-8ABB-F4B71092EB48}"/>
              </a:ext>
            </a:extLst>
          </p:cNvPr>
          <p:cNvSpPr>
            <a:spLocks xmlns:a="http://schemas.openxmlformats.org/drawingml/2006/main" noGrp="1"/>
          </p:cNvSpPr>
          <p:nvPr/>
        </p:nvSpPr>
        <p:spPr>
          <a:xfrm xmlns:a="http://schemas.openxmlformats.org/drawingml/2006/main">
            <a:off x="571500" y="14287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Alongside the rounds and court assignments.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df4ba09780b4aef"/>
          <a:stretch xmlns:a="http://schemas.openxmlformats.org/drawingml/2006/main"/>
        </p:blipFill>
        <p:spPr>
          <a:xfrm xmlns:a="http://schemas.openxmlformats.org/drawingml/2006/main">
            <a:off x="580835" y="2647950"/>
            <a:ext cx="11030331" cy="21050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CAB76D4-0146-469C-9C67-6C904BEF96DC}"/>
              </a:ext>
            </a:extLst>
          </p:cNvPr>
          <p:cNvSpPr>
            <a:spLocks xmlns:a="http://schemas.openxmlformats.org/drawingml/2006/main" noGrp="1"/>
          </p:cNvSpPr>
          <p:nvPr/>
        </p:nvSpPr>
        <p:spPr>
          <a:xfrm xmlns:a="http://schemas.openxmlformats.org/drawingml/2006/main">
            <a:off x="571500" y="4752975"/>
            <a:ext cx="11049000" cy="13335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ff622ef3aa646da"/>
          <a:stretch xmlns:a="http://schemas.openxmlformats.org/drawingml/2006/main"/>
        </p:blipFill>
        <p:spPr>
          <a:xfrm xmlns:a="http://schemas.openxmlformats.org/drawingml/2006/main">
            <a:off x="880280" y="5153025"/>
            <a:ext cx="2373291" cy="8191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B55DABC-21AF-473B-ADB8-64EAA2EA4AB1}"/>
              </a:ext>
            </a:extLst>
          </p:cNvPr>
          <p:cNvSpPr>
            <a:spLocks xmlns:a="http://schemas.openxmlformats.org/drawingml/2006/main" noGrp="1"/>
          </p:cNvSpPr>
          <p:nvPr/>
        </p:nvSpPr>
        <p:spPr>
          <a:xfrm xmlns:a="http://schemas.openxmlformats.org/drawingml/2006/main">
            <a:off x="3867150" y="5143500"/>
            <a:ext cx="5010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C110E"/>
                </a:solidFill>
                <a:latin typeface="Arial"/>
                <a:ea typeface="Arial"/>
                <a:cs typeface="Arial"/>
              </a:defRPr>
            </a:pPr>
            <a:r>
              <a:rPr sz="2175" b="1">
                <a:solidFill>
                  <a:srgbClr val="0C110E"/>
                </a:solidFill>
                <a:latin typeface="Arial"/>
                <a:ea typeface="Arial"/>
                <a:cs typeface="Arial"/>
              </a:rPr>
              <a:t>MATCH13 PARTNER</a:t>
            </a:r>
          </a:p>
        </p:txBody>
      </p:sp>
      <p:sp>
        <p:nvSpPr>
          <p:cNvPr id="9" name="">
            <a:extLst xmlns:a="http://schemas.openxmlformats.org/drawingml/2006/main">
              <a:ext uri="{FF2B5EF4-FFF2-40B4-BE49-F238E27FC236}">
                <a16:creationId xmlns:a16="http://schemas.microsoft.com/office/drawing/2014/main" id="{4368EB9E-64DA-42AA-914F-83365A396427}"/>
              </a:ext>
            </a:extLst>
          </p:cNvPr>
          <p:cNvSpPr>
            <a:spLocks xmlns:a="http://schemas.openxmlformats.org/drawingml/2006/main" noGrp="1"/>
          </p:cNvSpPr>
          <p:nvPr/>
        </p:nvSpPr>
        <p:spPr>
          <a:xfrm xmlns:a="http://schemas.openxmlformats.org/drawingml/2006/main">
            <a:off x="3895725" y="5581650"/>
            <a:ext cx="5800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35D50"/>
                </a:solidFill>
                <a:latin typeface="Arial"/>
                <a:ea typeface="Arial"/>
                <a:cs typeface="Arial"/>
              </a:defRPr>
            </a:pPr>
            <a:r>
              <a:rPr sz="1725" b="0">
                <a:solidFill>
                  <a:srgbClr val="535D50"/>
                </a:solidFill>
                <a:latin typeface="Arial"/>
                <a:ea typeface="Arial"/>
                <a:cs typeface="Arial"/>
              </a:rPr>
              <a:t>Proposed visibility throughout the tournament</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8d15628e799419c"/>
          <a:stretch xmlns:a="http://schemas.openxmlformats.org/drawingml/2006/main"/>
        </p:blipFill>
        <p:spPr>
          <a:xfrm xmlns:a="http://schemas.openxmlformats.org/drawingml/2006/main">
            <a:off x="10315575" y="5095875"/>
            <a:ext cx="942975" cy="9429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667778E-79DE-4B79-9B18-248250ED3D46}"/>
              </a:ext>
            </a:extLst>
          </p:cNvPr>
          <p:cNvSpPr>
            <a:spLocks xmlns:a="http://schemas.openxmlformats.org/drawingml/2006/main" noGrp="1"/>
          </p:cNvSpPr>
          <p:nvPr/>
        </p:nvSpPr>
        <p:spPr>
          <a:xfrm xmlns:a="http://schemas.openxmlformats.org/drawingml/2006/main">
            <a:off x="571500" y="6362700"/>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C4CDC2"/>
                </a:solidFill>
                <a:latin typeface="Arial"/>
                <a:ea typeface="Arial"/>
                <a:cs typeface="Arial"/>
              </a:defRPr>
            </a:pPr>
            <a:r>
              <a:rPr sz="1275" b="0">
                <a:solidFill>
                  <a:srgbClr val="C4CDC2"/>
                </a:solidFill>
                <a:latin typeface="Arial"/>
                <a:ea typeface="Arial"/>
                <a:cs typeface="Arial"/>
              </a:rPr>
              <a:t>Concept. Sponsor strip to be added for tournaments using the Match13 venue screen.</a:t>
            </a:r>
          </a:p>
        </p:txBody>
      </p:sp>
    </p:spTree>
    <p:extLst>
      <p:ext uri="{BB962C8B-B14F-4D97-AF65-F5344CB8AC3E}">
        <p14:creationId xmlns:p14="http://schemas.microsoft.com/office/powerpoint/2010/main" val="1321568022"/>
      </p:ext>
    </p:extLst>
  </p:cSld>
</p:sld>
</file>

<file path=ppt/slides/slide7.xml><?xml version="1.0" encoding="utf-8"?>
<p:sld xmlns:p="http://schemas.openxmlformats.org/presentationml/2006/main">
  <p:cSld>
    <p:bg>
      <p:bgPr>
        <a:solidFill xmlns:a="http://schemas.openxmlformats.org/drawingml/2006/main">
          <a:srgbClr val="0C110E"/>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a4601a7d8694bc9"/>
          <a:stretch xmlns:a="http://schemas.openxmlformats.org/drawingml/2006/main"/>
        </p:blipFill>
        <p:spPr>
          <a:xfrm xmlns:a="http://schemas.openxmlformats.org/drawingml/2006/main">
            <a:off x="9715500" y="325010"/>
            <a:ext cx="1952625" cy="67395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F27DC11-2B06-458F-8D46-DEEB9E902156}"/>
              </a:ext>
            </a:extLst>
          </p:cNvPr>
          <p:cNvSpPr>
            <a:spLocks xmlns:a="http://schemas.openxmlformats.org/drawingml/2006/main" noGrp="1"/>
          </p:cNvSpPr>
          <p:nvPr/>
        </p:nvSpPr>
        <p:spPr>
          <a:xfrm xmlns:a="http://schemas.openxmlformats.org/drawingml/2006/main">
            <a:off x="11287125" y="6353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C4CDC2"/>
                </a:solidFill>
                <a:latin typeface="Arial"/>
                <a:ea typeface="Arial"/>
                <a:cs typeface="Arial"/>
              </a:defRPr>
            </a:pPr>
            <a:r>
              <a:rPr sz="1200" b="0">
                <a:solidFill>
                  <a:srgbClr val="C4CDC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C146F0ED-9589-4F1C-9F11-8B3884E4A2FA}"/>
              </a:ext>
            </a:extLst>
          </p:cNvPr>
          <p:cNvSpPr>
            <a:spLocks xmlns:a="http://schemas.openxmlformats.org/drawingml/2006/main" noGrp="1"/>
          </p:cNvSpPr>
          <p:nvPr/>
        </p:nvSpPr>
        <p:spPr>
          <a:xfrm xmlns:a="http://schemas.openxmlformats.org/drawingml/2006/main">
            <a:off x="552450" y="495300"/>
            <a:ext cx="8896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91D13E"/>
                </a:solidFill>
                <a:latin typeface="Arial"/>
                <a:ea typeface="Arial"/>
                <a:cs typeface="Arial"/>
              </a:defRPr>
            </a:pPr>
            <a:r>
              <a:rPr sz="3675" b="1">
                <a:solidFill>
                  <a:srgbClr val="91D13E"/>
                </a:solidFill>
                <a:latin typeface="Arial"/>
                <a:ea typeface="Arial"/>
                <a:cs typeface="Arial"/>
              </a:rPr>
              <a:t>Two partnership options</a:t>
            </a:r>
          </a:p>
        </p:txBody>
      </p:sp>
      <p:sp>
        <p:nvSpPr>
          <p:cNvPr id="4" name="">
            <a:extLst xmlns:a="http://schemas.openxmlformats.org/drawingml/2006/main">
              <a:ext uri="{FF2B5EF4-FFF2-40B4-BE49-F238E27FC236}">
                <a16:creationId xmlns:a16="http://schemas.microsoft.com/office/drawing/2014/main" id="{82869AB2-23ED-4E3E-BA7A-D716749DD57F}"/>
              </a:ext>
            </a:extLst>
          </p:cNvPr>
          <p:cNvSpPr>
            <a:spLocks xmlns:a="http://schemas.openxmlformats.org/drawingml/2006/main" noGrp="1"/>
          </p:cNvSpPr>
          <p:nvPr/>
        </p:nvSpPr>
        <p:spPr>
          <a:xfrm xmlns:a="http://schemas.openxmlformats.org/drawingml/2006/main">
            <a:off x="552450" y="1866900"/>
            <a:ext cx="52863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Main sponsor</a:t>
            </a:r>
          </a:p>
        </p:txBody>
      </p:sp>
      <p:sp>
        <p:nvSpPr>
          <p:cNvPr id="5" name="">
            <a:extLst xmlns:a="http://schemas.openxmlformats.org/drawingml/2006/main">
              <a:ext uri="{FF2B5EF4-FFF2-40B4-BE49-F238E27FC236}">
                <a16:creationId xmlns:a16="http://schemas.microsoft.com/office/drawing/2014/main" id="{E5E70E0D-83A3-46DE-963F-DD1EA27ED157}"/>
              </a:ext>
            </a:extLst>
          </p:cNvPr>
          <p:cNvSpPr>
            <a:spLocks xmlns:a="http://schemas.openxmlformats.org/drawingml/2006/main" noGrp="1"/>
          </p:cNvSpPr>
          <p:nvPr/>
        </p:nvSpPr>
        <p:spPr>
          <a:xfrm xmlns:a="http://schemas.openxmlformats.org/drawingml/2006/main">
            <a:off x="552450" y="2600325"/>
            <a:ext cx="53530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850" b="1">
                <a:solidFill>
                  <a:srgbClr val="FFFFFF"/>
                </a:solidFill>
                <a:latin typeface="Arial"/>
                <a:ea typeface="Arial"/>
                <a:cs typeface="Arial"/>
              </a:defRPr>
            </a:pPr>
            <a:r>
              <a:rPr sz="5850" b="1">
                <a:solidFill>
                  <a:srgbClr val="FFFFFF"/>
                </a:solidFill>
                <a:latin typeface="Arial"/>
                <a:ea typeface="Arial"/>
                <a:cs typeface="Arial"/>
              </a:rPr>
              <a:t>€1,550</a:t>
            </a:r>
          </a:p>
        </p:txBody>
      </p:sp>
      <p:sp>
        <p:nvSpPr>
          <p:cNvPr id="6" name="">
            <a:extLst xmlns:a="http://schemas.openxmlformats.org/drawingml/2006/main">
              <a:ext uri="{FF2B5EF4-FFF2-40B4-BE49-F238E27FC236}">
                <a16:creationId xmlns:a16="http://schemas.microsoft.com/office/drawing/2014/main" id="{19DD683D-C1D0-4D3A-99D9-6A5F18D482BE}"/>
              </a:ext>
            </a:extLst>
          </p:cNvPr>
          <p:cNvSpPr>
            <a:spLocks xmlns:a="http://schemas.openxmlformats.org/drawingml/2006/main" noGrp="1"/>
          </p:cNvSpPr>
          <p:nvPr/>
        </p:nvSpPr>
        <p:spPr>
          <a:xfrm xmlns:a="http://schemas.openxmlformats.org/drawingml/2006/main">
            <a:off x="590550" y="3619500"/>
            <a:ext cx="490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C4CDC2"/>
                </a:solidFill>
                <a:latin typeface="Arial"/>
                <a:ea typeface="Arial"/>
                <a:cs typeface="Arial"/>
              </a:defRPr>
            </a:pPr>
            <a:r>
              <a:rPr sz="2025" b="0">
                <a:solidFill>
                  <a:srgbClr val="C4CDC2"/>
                </a:solidFill>
                <a:latin typeface="Arial"/>
                <a:ea typeface="Arial"/>
                <a:cs typeface="Arial"/>
              </a:rPr>
              <a:t>per year</a:t>
            </a:r>
          </a:p>
        </p:txBody>
      </p:sp>
      <p:sp>
        <p:nvSpPr>
          <p:cNvPr id="7" name="">
            <a:extLst xmlns:a="http://schemas.openxmlformats.org/drawingml/2006/main">
              <a:ext uri="{FF2B5EF4-FFF2-40B4-BE49-F238E27FC236}">
                <a16:creationId xmlns:a16="http://schemas.microsoft.com/office/drawing/2014/main" id="{F2A1AABB-18F9-4095-949A-23A1EB2744FA}"/>
              </a:ext>
            </a:extLst>
          </p:cNvPr>
          <p:cNvSpPr>
            <a:spLocks xmlns:a="http://schemas.openxmlformats.org/drawingml/2006/main" noGrp="1"/>
          </p:cNvSpPr>
          <p:nvPr/>
        </p:nvSpPr>
        <p:spPr>
          <a:xfrm xmlns:a="http://schemas.openxmlformats.org/drawingml/2006/main">
            <a:off x="590550" y="4438650"/>
            <a:ext cx="50863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C4CDC2"/>
                </a:solidFill>
                <a:latin typeface="Arial"/>
                <a:ea typeface="Arial"/>
                <a:cs typeface="Arial"/>
              </a:defRPr>
            </a:pPr>
            <a:r>
              <a:rPr sz="1950" b="0">
                <a:solidFill>
                  <a:srgbClr val="C4CDC2"/>
                </a:solidFill>
                <a:latin typeface="Arial"/>
                <a:ea typeface="Arial"/>
                <a:cs typeface="Arial"/>
              </a:rPr>
              <a:t>Dedicated page and homepage banner.</a:t>
            </a:r>
          </a:p>
          <a:p xmlns:a="http://schemas.openxmlformats.org/drawingml/2006/main">
            <a:pPr>
              <a:buNone/>
              <a:defRPr sz="1950" b="0">
                <a:solidFill>
                  <a:srgbClr val="C4CDC2"/>
                </a:solidFill>
                <a:latin typeface="Arial"/>
                <a:ea typeface="Arial"/>
                <a:cs typeface="Arial"/>
              </a:defRPr>
            </a:pPr>
            <a:r>
              <a:rPr sz="1950" b="0">
                <a:solidFill>
                  <a:srgbClr val="C4CDC2"/>
                </a:solidFill>
                <a:latin typeface="Arial"/>
                <a:ea typeface="Arial"/>
                <a:cs typeface="Arial"/>
              </a:rPr>
              <a:t>Newsletter and tournament video mentions.</a:t>
            </a:r>
          </a:p>
          <a:p xmlns:a="http://schemas.openxmlformats.org/drawingml/2006/main">
            <a:pPr>
              <a:buNone/>
              <a:defRPr sz="1950" b="0">
                <a:solidFill>
                  <a:srgbClr val="C4CDC2"/>
                </a:solidFill>
                <a:latin typeface="Arial"/>
                <a:ea typeface="Arial"/>
                <a:cs typeface="Arial"/>
              </a:defRPr>
            </a:pPr>
            <a:r>
              <a:rPr sz="1950" b="0">
                <a:solidFill>
                  <a:srgbClr val="C4CDC2"/>
                </a:solidFill>
                <a:latin typeface="Arial"/>
                <a:ea typeface="Arial"/>
                <a:cs typeface="Arial"/>
              </a:rPr>
              <a:t>Includes the Silver package.</a:t>
            </a:r>
          </a:p>
        </p:txBody>
      </p:sp>
      <p:sp>
        <p:nvSpPr>
          <p:cNvPr id="8" name="">
            <a:extLst xmlns:a="http://schemas.openxmlformats.org/drawingml/2006/main">
              <a:ext uri="{FF2B5EF4-FFF2-40B4-BE49-F238E27FC236}">
                <a16:creationId xmlns:a16="http://schemas.microsoft.com/office/drawing/2014/main" id="{1AAFF2F4-E37D-4EA0-8A6C-A2F136DA51BE}"/>
              </a:ext>
            </a:extLst>
          </p:cNvPr>
          <p:cNvSpPr>
            <a:spLocks xmlns:a="http://schemas.openxmlformats.org/drawingml/2006/main" noGrp="1"/>
          </p:cNvSpPr>
          <p:nvPr/>
        </p:nvSpPr>
        <p:spPr>
          <a:xfrm xmlns:a="http://schemas.openxmlformats.org/drawingml/2006/main">
            <a:off x="590550" y="592455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Arial"/>
                <a:ea typeface="Arial"/>
                <a:cs typeface="Arial"/>
              </a:defRPr>
            </a:pPr>
            <a:r>
              <a:rPr sz="1725" b="1">
                <a:solidFill>
                  <a:srgbClr val="FFFFFF"/>
                </a:solidFill>
                <a:latin typeface="Arial"/>
                <a:ea typeface="Arial"/>
                <a:cs typeface="Arial"/>
              </a:rPr>
              <a:t>Up to 2 main sponsors</a:t>
            </a:r>
          </a:p>
        </p:txBody>
      </p:sp>
      <p:sp>
        <p:nvSpPr>
          <p:cNvPr id="9" name="">
            <a:extLst xmlns:a="http://schemas.openxmlformats.org/drawingml/2006/main">
              <a:ext uri="{FF2B5EF4-FFF2-40B4-BE49-F238E27FC236}">
                <a16:creationId xmlns:a16="http://schemas.microsoft.com/office/drawing/2014/main" id="{5CEF670D-9522-4F78-925F-11D76DEFC279}"/>
              </a:ext>
            </a:extLst>
          </p:cNvPr>
          <p:cNvSpPr>
            <a:spLocks xmlns:a="http://schemas.openxmlformats.org/drawingml/2006/main" noGrp="1"/>
          </p:cNvSpPr>
          <p:nvPr/>
        </p:nvSpPr>
        <p:spPr>
          <a:xfrm xmlns:a="http://schemas.openxmlformats.org/drawingml/2006/main">
            <a:off x="6372225" y="1866900"/>
            <a:ext cx="53149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91D13E"/>
                </a:solidFill>
                <a:latin typeface="Arial"/>
                <a:ea typeface="Arial"/>
                <a:cs typeface="Arial"/>
              </a:defRPr>
            </a:pPr>
            <a:r>
              <a:rPr sz="2550" b="1">
                <a:solidFill>
                  <a:srgbClr val="91D13E"/>
                </a:solidFill>
                <a:latin typeface="Arial"/>
                <a:ea typeface="Arial"/>
                <a:cs typeface="Arial"/>
              </a:rPr>
              <a:t>Match13 lead partner</a:t>
            </a:r>
          </a:p>
        </p:txBody>
      </p:sp>
      <p:sp>
        <p:nvSpPr>
          <p:cNvPr id="10" name="">
            <a:extLst xmlns:a="http://schemas.openxmlformats.org/drawingml/2006/main">
              <a:ext uri="{FF2B5EF4-FFF2-40B4-BE49-F238E27FC236}">
                <a16:creationId xmlns:a16="http://schemas.microsoft.com/office/drawing/2014/main" id="{F216657E-369C-43F7-9775-EF4F18B3EE9A}"/>
              </a:ext>
            </a:extLst>
          </p:cNvPr>
          <p:cNvSpPr>
            <a:spLocks xmlns:a="http://schemas.openxmlformats.org/drawingml/2006/main" noGrp="1"/>
          </p:cNvSpPr>
          <p:nvPr/>
        </p:nvSpPr>
        <p:spPr>
          <a:xfrm xmlns:a="http://schemas.openxmlformats.org/drawingml/2006/main">
            <a:off x="6372225" y="2600325"/>
            <a:ext cx="5257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850" b="1">
                <a:solidFill>
                  <a:srgbClr val="91D13E"/>
                </a:solidFill>
                <a:latin typeface="Arial"/>
                <a:ea typeface="Arial"/>
                <a:cs typeface="Arial"/>
              </a:defRPr>
            </a:pPr>
            <a:r>
              <a:rPr sz="5850" b="1">
                <a:solidFill>
                  <a:srgbClr val="91D13E"/>
                </a:solidFill>
                <a:latin typeface="Arial"/>
                <a:ea typeface="Arial"/>
                <a:cs typeface="Arial"/>
              </a:rPr>
              <a:t>€3,000</a:t>
            </a:r>
          </a:p>
        </p:txBody>
      </p:sp>
      <p:sp>
        <p:nvSpPr>
          <p:cNvPr id="11" name="">
            <a:extLst xmlns:a="http://schemas.openxmlformats.org/drawingml/2006/main">
              <a:ext uri="{FF2B5EF4-FFF2-40B4-BE49-F238E27FC236}">
                <a16:creationId xmlns:a16="http://schemas.microsoft.com/office/drawing/2014/main" id="{E038094E-3B19-4039-B7A6-FA65718EDC92}"/>
              </a:ext>
            </a:extLst>
          </p:cNvPr>
          <p:cNvSpPr>
            <a:spLocks xmlns:a="http://schemas.openxmlformats.org/drawingml/2006/main" noGrp="1"/>
          </p:cNvSpPr>
          <p:nvPr/>
        </p:nvSpPr>
        <p:spPr>
          <a:xfrm xmlns:a="http://schemas.openxmlformats.org/drawingml/2006/main">
            <a:off x="6419850" y="3619500"/>
            <a:ext cx="490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C4CDC2"/>
                </a:solidFill>
                <a:latin typeface="Arial"/>
                <a:ea typeface="Arial"/>
                <a:cs typeface="Arial"/>
              </a:defRPr>
            </a:pPr>
            <a:r>
              <a:rPr sz="2025" b="0">
                <a:solidFill>
                  <a:srgbClr val="C4CDC2"/>
                </a:solidFill>
                <a:latin typeface="Arial"/>
                <a:ea typeface="Arial"/>
                <a:cs typeface="Arial"/>
              </a:rPr>
              <a:t>per year</a:t>
            </a:r>
          </a:p>
        </p:txBody>
      </p:sp>
      <p:sp>
        <p:nvSpPr>
          <p:cNvPr id="12" name="">
            <a:extLst xmlns:a="http://schemas.openxmlformats.org/drawingml/2006/main">
              <a:ext uri="{FF2B5EF4-FFF2-40B4-BE49-F238E27FC236}">
                <a16:creationId xmlns:a16="http://schemas.microsoft.com/office/drawing/2014/main" id="{11225D14-AB03-4889-BF78-CFC9D14392B8}"/>
              </a:ext>
            </a:extLst>
          </p:cNvPr>
          <p:cNvSpPr>
            <a:spLocks xmlns:a="http://schemas.openxmlformats.org/drawingml/2006/main" noGrp="1"/>
          </p:cNvSpPr>
          <p:nvPr/>
        </p:nvSpPr>
        <p:spPr>
          <a:xfrm xmlns:a="http://schemas.openxmlformats.org/drawingml/2006/main">
            <a:off x="6419850" y="4438650"/>
            <a:ext cx="49911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FFFFFF"/>
                </a:solidFill>
                <a:latin typeface="Arial"/>
                <a:ea typeface="Arial"/>
                <a:cs typeface="Arial"/>
              </a:defRPr>
            </a:pPr>
            <a:r>
              <a:rPr sz="1950" b="0">
                <a:solidFill>
                  <a:srgbClr val="FFFFFF"/>
                </a:solidFill>
                <a:latin typeface="Arial"/>
                <a:ea typeface="Arial"/>
                <a:cs typeface="Arial"/>
              </a:rPr>
              <a:t>Everything in the Main Sponsor package.</a:t>
            </a:r>
          </a:p>
          <a:p xmlns:a="http://schemas.openxmlformats.org/drawingml/2006/main">
            <a:pPr>
              <a:buNone/>
              <a:defRPr sz="1950" b="0">
                <a:solidFill>
                  <a:srgbClr val="FFFFFF"/>
                </a:solidFill>
                <a:latin typeface="Arial"/>
                <a:ea typeface="Arial"/>
                <a:cs typeface="Arial"/>
              </a:defRPr>
            </a:pPr>
            <a:r>
              <a:rPr sz="1950" b="0">
                <a:solidFill>
                  <a:srgbClr val="FFFFFF"/>
                </a:solidFill>
                <a:latin typeface="Arial"/>
                <a:ea typeface="Arial"/>
                <a:cs typeface="Arial"/>
              </a:rPr>
              <a:t>Plus your logo on match cards</a:t>
            </a:r>
          </a:p>
          <a:p xmlns:a="http://schemas.openxmlformats.org/drawingml/2006/main">
            <a:pPr>
              <a:buNone/>
              <a:defRPr sz="1950" b="0">
                <a:solidFill>
                  <a:srgbClr val="FFFFFF"/>
                </a:solidFill>
                <a:latin typeface="Arial"/>
                <a:ea typeface="Arial"/>
                <a:cs typeface="Arial"/>
              </a:defRPr>
            </a:pPr>
            <a:r>
              <a:rPr sz="1950" b="0">
                <a:solidFill>
                  <a:srgbClr val="FFFFFF"/>
                </a:solidFill>
                <a:latin typeface="Arial"/>
                <a:ea typeface="Arial"/>
                <a:cs typeface="Arial"/>
              </a:rPr>
              <a:t>and the Match13 venue screen.</a:t>
            </a:r>
          </a:p>
        </p:txBody>
      </p:sp>
      <p:sp>
        <p:nvSpPr>
          <p:cNvPr id="13" name="">
            <a:extLst xmlns:a="http://schemas.openxmlformats.org/drawingml/2006/main">
              <a:ext uri="{FF2B5EF4-FFF2-40B4-BE49-F238E27FC236}">
                <a16:creationId xmlns:a16="http://schemas.microsoft.com/office/drawing/2014/main" id="{5D964528-FE2A-43A4-8144-8FD811AD5FEE}"/>
              </a:ext>
            </a:extLst>
          </p:cNvPr>
          <p:cNvSpPr>
            <a:spLocks xmlns:a="http://schemas.openxmlformats.org/drawingml/2006/main" noGrp="1"/>
          </p:cNvSpPr>
          <p:nvPr/>
        </p:nvSpPr>
        <p:spPr>
          <a:xfrm xmlns:a="http://schemas.openxmlformats.org/drawingml/2006/main">
            <a:off x="6419850" y="5924550"/>
            <a:ext cx="5076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91D13E"/>
                </a:solidFill>
                <a:latin typeface="Arial"/>
                <a:ea typeface="Arial"/>
                <a:cs typeface="Arial"/>
              </a:defRPr>
            </a:pPr>
            <a:r>
              <a:rPr sz="1725" b="1">
                <a:solidFill>
                  <a:srgbClr val="91D13E"/>
                </a:solidFill>
                <a:latin typeface="Arial"/>
                <a:ea typeface="Arial"/>
                <a:cs typeface="Arial"/>
              </a:rPr>
              <a:t>One Match13 lead partner per year</a:t>
            </a:r>
          </a:p>
        </p:txBody>
      </p:sp>
      <p:sp>
        <p:nvSpPr>
          <p:cNvPr id="14" name="">
            <a:extLst xmlns:a="http://schemas.openxmlformats.org/drawingml/2006/main">
              <a:ext uri="{FF2B5EF4-FFF2-40B4-BE49-F238E27FC236}">
                <a16:creationId xmlns:a16="http://schemas.microsoft.com/office/drawing/2014/main" id="{01CD9044-735F-45A1-B8A4-3FE48B311A3D}"/>
              </a:ext>
            </a:extLst>
          </p:cNvPr>
          <p:cNvSpPr>
            <a:spLocks xmlns:a="http://schemas.openxmlformats.org/drawingml/2006/main" noGrp="1"/>
          </p:cNvSpPr>
          <p:nvPr/>
        </p:nvSpPr>
        <p:spPr>
          <a:xfrm xmlns:a="http://schemas.openxmlformats.org/drawingml/2006/main">
            <a:off x="590550" y="64770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C4CDC2"/>
                </a:solidFill>
                <a:latin typeface="Arial"/>
                <a:ea typeface="Arial"/>
                <a:cs typeface="Arial"/>
              </a:defRPr>
            </a:pPr>
            <a:r>
              <a:rPr sz="1050" b="0">
                <a:solidFill>
                  <a:srgbClr val="C4CDC2"/>
                </a:solidFill>
                <a:latin typeface="Arial"/>
                <a:ea typeface="Arial"/>
                <a:cs typeface="Arial"/>
              </a:rPr>
              <a:t>First-year rates from the dossier. Term, availability and VAT treatment to be confirmed in the agreement.</a:t>
            </a:r>
          </a:p>
        </p:txBody>
      </p:sp>
    </p:spTree>
    <p:extLst>
      <p:ext uri="{BB962C8B-B14F-4D97-AF65-F5344CB8AC3E}">
        <p14:creationId xmlns:p14="http://schemas.microsoft.com/office/powerpoint/2010/main" val="2141432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e8f9b8a9b8e4893"/>
          <a:stretch xmlns:a="http://schemas.openxmlformats.org/drawingml/2006/main"/>
        </p:blipFill>
        <p:spPr>
          <a:xfrm xmlns:a="http://schemas.openxmlformats.org/drawingml/2006/main">
            <a:off x="9715500" y="325010"/>
            <a:ext cx="1952625" cy="67395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4028E96-EF46-406A-8A60-3DA7FE2037EE}"/>
              </a:ext>
            </a:extLst>
          </p:cNvPr>
          <p:cNvSpPr>
            <a:spLocks xmlns:a="http://schemas.openxmlformats.org/drawingml/2006/main" noGrp="1"/>
          </p:cNvSpPr>
          <p:nvPr/>
        </p:nvSpPr>
        <p:spPr>
          <a:xfrm xmlns:a="http://schemas.openxmlformats.org/drawingml/2006/main">
            <a:off x="11287125" y="6353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656E62"/>
                </a:solidFill>
                <a:latin typeface="Arial"/>
                <a:ea typeface="Arial"/>
                <a:cs typeface="Arial"/>
              </a:defRPr>
            </a:pPr>
            <a:r>
              <a:rPr sz="1200" b="0">
                <a:solidFill>
                  <a:srgbClr val="656E6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32FBBDE1-1232-4C62-9371-87C5C3214D13}"/>
              </a:ext>
            </a:extLst>
          </p:cNvPr>
          <p:cNvSpPr>
            <a:spLocks xmlns:a="http://schemas.openxmlformats.org/drawingml/2006/main" noGrp="1"/>
          </p:cNvSpPr>
          <p:nvPr/>
        </p:nvSpPr>
        <p:spPr>
          <a:xfrm xmlns:a="http://schemas.openxmlformats.org/drawingml/2006/main">
            <a:off x="533400" y="504825"/>
            <a:ext cx="88201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0C110E"/>
                </a:solidFill>
                <a:latin typeface="Arial"/>
                <a:ea typeface="Arial"/>
                <a:cs typeface="Arial"/>
              </a:defRPr>
            </a:pPr>
            <a:r>
              <a:rPr sz="3525" b="1">
                <a:solidFill>
                  <a:srgbClr val="0C110E"/>
                </a:solidFill>
                <a:latin typeface="Arial"/>
                <a:ea typeface="Arial"/>
                <a:cs typeface="Arial"/>
              </a:rPr>
              <a:t>Building the partnership together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106dd0af2f847dc"/>
          <a:stretch xmlns:a="http://schemas.openxmlformats.org/drawingml/2006/main"/>
        </p:blipFill>
        <p:spPr>
          <a:xfrm xmlns:a="http://schemas.openxmlformats.org/drawingml/2006/main">
            <a:off x="762000" y="2238375"/>
            <a:ext cx="1962150" cy="196215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0bd5bf0ec5746ed"/>
          <a:stretch xmlns:a="http://schemas.openxmlformats.org/drawingml/2006/main"/>
        </p:blipFill>
        <p:spPr>
          <a:xfrm xmlns:a="http://schemas.openxmlformats.org/drawingml/2006/main">
            <a:off x="554244" y="4772025"/>
            <a:ext cx="2787237" cy="9620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7F8D9C8-2D3A-468F-85D1-D01CB933479F}"/>
              </a:ext>
            </a:extLst>
          </p:cNvPr>
          <p:cNvSpPr>
            <a:spLocks xmlns:a="http://schemas.openxmlformats.org/drawingml/2006/main" noGrp="1"/>
          </p:cNvSpPr>
          <p:nvPr/>
        </p:nvSpPr>
        <p:spPr>
          <a:xfrm xmlns:a="http://schemas.openxmlformats.org/drawingml/2006/main">
            <a:off x="4105275" y="2105025"/>
            <a:ext cx="1047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91D13E"/>
                </a:solidFill>
                <a:latin typeface="Arial"/>
                <a:ea typeface="Arial"/>
                <a:cs typeface="Arial"/>
              </a:defRPr>
            </a:pPr>
            <a:r>
              <a:rPr sz="3675" b="1">
                <a:solidFill>
                  <a:srgbClr val="91D13E"/>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ACB393F-3006-4D97-9BD4-6D8ACCDAC66B}"/>
              </a:ext>
            </a:extLst>
          </p:cNvPr>
          <p:cNvSpPr>
            <a:spLocks xmlns:a="http://schemas.openxmlformats.org/drawingml/2006/main" noGrp="1"/>
          </p:cNvSpPr>
          <p:nvPr/>
        </p:nvSpPr>
        <p:spPr>
          <a:xfrm xmlns:a="http://schemas.openxmlformats.org/drawingml/2006/main">
            <a:off x="5314950" y="2133600"/>
            <a:ext cx="5819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C110E"/>
                </a:solidFill>
                <a:latin typeface="Arial"/>
                <a:ea typeface="Arial"/>
                <a:cs typeface="Arial"/>
              </a:defRPr>
            </a:pPr>
            <a:r>
              <a:rPr sz="2475" b="1">
                <a:solidFill>
                  <a:srgbClr val="0C110E"/>
                </a:solidFill>
                <a:latin typeface="Arial"/>
                <a:ea typeface="Arial"/>
                <a:cs typeface="Arial"/>
              </a:rPr>
              <a:t>The proposal</a:t>
            </a:r>
          </a:p>
        </p:txBody>
      </p:sp>
      <p:sp>
        <p:nvSpPr>
          <p:cNvPr id="8" name="">
            <a:extLst xmlns:a="http://schemas.openxmlformats.org/drawingml/2006/main">
              <a:ext uri="{FF2B5EF4-FFF2-40B4-BE49-F238E27FC236}">
                <a16:creationId xmlns:a16="http://schemas.microsoft.com/office/drawing/2014/main" id="{8F2A9AC9-C2EF-4F58-A1DE-2876CC5F51CE}"/>
              </a:ext>
            </a:extLst>
          </p:cNvPr>
          <p:cNvSpPr>
            <a:spLocks xmlns:a="http://schemas.openxmlformats.org/drawingml/2006/main" noGrp="1"/>
          </p:cNvSpPr>
          <p:nvPr/>
        </p:nvSpPr>
        <p:spPr>
          <a:xfrm xmlns:a="http://schemas.openxmlformats.org/drawingml/2006/main">
            <a:off x="5353050" y="2667000"/>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45D51"/>
                </a:solidFill>
                <a:latin typeface="Arial"/>
                <a:ea typeface="Arial"/>
                <a:cs typeface="Arial"/>
              </a:defRPr>
            </a:pPr>
            <a:r>
              <a:rPr sz="1950" b="0">
                <a:solidFill>
                  <a:srgbClr val="545D51"/>
                </a:solidFill>
                <a:latin typeface="Arial"/>
                <a:ea typeface="Arial"/>
                <a:cs typeface="Arial"/>
              </a:rPr>
              <a:t>Choose the package and brand placements.</a:t>
            </a:r>
          </a:p>
        </p:txBody>
      </p:sp>
      <p:sp>
        <p:nvSpPr>
          <p:cNvPr id="9" name="">
            <a:extLst xmlns:a="http://schemas.openxmlformats.org/drawingml/2006/main">
              <a:ext uri="{FF2B5EF4-FFF2-40B4-BE49-F238E27FC236}">
                <a16:creationId xmlns:a16="http://schemas.microsoft.com/office/drawing/2014/main" id="{B9539E71-83E6-427D-90FE-3DABF5AE2DB8}"/>
              </a:ext>
            </a:extLst>
          </p:cNvPr>
          <p:cNvSpPr>
            <a:spLocks xmlns:a="http://schemas.openxmlformats.org/drawingml/2006/main" noGrp="1"/>
          </p:cNvSpPr>
          <p:nvPr/>
        </p:nvSpPr>
        <p:spPr>
          <a:xfrm xmlns:a="http://schemas.openxmlformats.org/drawingml/2006/main">
            <a:off x="4105275" y="3581400"/>
            <a:ext cx="1047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91D13E"/>
                </a:solidFill>
                <a:latin typeface="Arial"/>
                <a:ea typeface="Arial"/>
                <a:cs typeface="Arial"/>
              </a:defRPr>
            </a:pPr>
            <a:r>
              <a:rPr sz="3675" b="1">
                <a:solidFill>
                  <a:srgbClr val="91D13E"/>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684C4E69-B895-4374-8A32-FBA8B76F49A2}"/>
              </a:ext>
            </a:extLst>
          </p:cNvPr>
          <p:cNvSpPr>
            <a:spLocks xmlns:a="http://schemas.openxmlformats.org/drawingml/2006/main" noGrp="1"/>
          </p:cNvSpPr>
          <p:nvPr/>
        </p:nvSpPr>
        <p:spPr>
          <a:xfrm xmlns:a="http://schemas.openxmlformats.org/drawingml/2006/main">
            <a:off x="5314950" y="3609975"/>
            <a:ext cx="5819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C110E"/>
                </a:solidFill>
                <a:latin typeface="Arial"/>
                <a:ea typeface="Arial"/>
                <a:cs typeface="Arial"/>
              </a:defRPr>
            </a:pPr>
            <a:r>
              <a:rPr sz="2475" b="1">
                <a:solidFill>
                  <a:srgbClr val="0C110E"/>
                </a:solidFill>
                <a:latin typeface="Arial"/>
                <a:ea typeface="Arial"/>
                <a:cs typeface="Arial"/>
              </a:rPr>
              <a:t>The preview</a:t>
            </a:r>
          </a:p>
        </p:txBody>
      </p:sp>
      <p:sp>
        <p:nvSpPr>
          <p:cNvPr id="11" name="">
            <a:extLst xmlns:a="http://schemas.openxmlformats.org/drawingml/2006/main">
              <a:ext uri="{FF2B5EF4-FFF2-40B4-BE49-F238E27FC236}">
                <a16:creationId xmlns:a16="http://schemas.microsoft.com/office/drawing/2014/main" id="{E8C72580-4998-46B4-853B-EE506E5FD7F8}"/>
              </a:ext>
            </a:extLst>
          </p:cNvPr>
          <p:cNvSpPr>
            <a:spLocks xmlns:a="http://schemas.openxmlformats.org/drawingml/2006/main" noGrp="1"/>
          </p:cNvSpPr>
          <p:nvPr/>
        </p:nvSpPr>
        <p:spPr>
          <a:xfrm xmlns:a="http://schemas.openxmlformats.org/drawingml/2006/main">
            <a:off x="5353050" y="4143375"/>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45D51"/>
                </a:solidFill>
                <a:latin typeface="Arial"/>
                <a:ea typeface="Arial"/>
                <a:cs typeface="Arial"/>
              </a:defRPr>
            </a:pPr>
            <a:r>
              <a:rPr sz="1950" b="0">
                <a:solidFill>
                  <a:srgbClr val="545D51"/>
                </a:solidFill>
                <a:latin typeface="Arial"/>
                <a:ea typeface="Arial"/>
                <a:cs typeface="Arial"/>
              </a:rPr>
              <a:t>Review the page, match cards and screen together.</a:t>
            </a:r>
          </a:p>
        </p:txBody>
      </p:sp>
      <p:sp>
        <p:nvSpPr>
          <p:cNvPr id="12" name="">
            <a:extLst xmlns:a="http://schemas.openxmlformats.org/drawingml/2006/main">
              <a:ext uri="{FF2B5EF4-FFF2-40B4-BE49-F238E27FC236}">
                <a16:creationId xmlns:a16="http://schemas.microsoft.com/office/drawing/2014/main" id="{4BD115EB-EAA2-447B-B522-9238F2003DB3}"/>
              </a:ext>
            </a:extLst>
          </p:cNvPr>
          <p:cNvSpPr>
            <a:spLocks xmlns:a="http://schemas.openxmlformats.org/drawingml/2006/main" noGrp="1"/>
          </p:cNvSpPr>
          <p:nvPr/>
        </p:nvSpPr>
        <p:spPr>
          <a:xfrm xmlns:a="http://schemas.openxmlformats.org/drawingml/2006/main">
            <a:off x="4105275" y="5057775"/>
            <a:ext cx="1047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91D13E"/>
                </a:solidFill>
                <a:latin typeface="Arial"/>
                <a:ea typeface="Arial"/>
                <a:cs typeface="Arial"/>
              </a:defRPr>
            </a:pPr>
            <a:r>
              <a:rPr sz="3675" b="1">
                <a:solidFill>
                  <a:srgbClr val="91D13E"/>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7C1663FD-F76F-43A0-8E41-16C6F1AF5779}"/>
              </a:ext>
            </a:extLst>
          </p:cNvPr>
          <p:cNvSpPr>
            <a:spLocks xmlns:a="http://schemas.openxmlformats.org/drawingml/2006/main" noGrp="1"/>
          </p:cNvSpPr>
          <p:nvPr/>
        </p:nvSpPr>
        <p:spPr>
          <a:xfrm xmlns:a="http://schemas.openxmlformats.org/drawingml/2006/main">
            <a:off x="5314950" y="5086350"/>
            <a:ext cx="5819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C110E"/>
                </a:solidFill>
                <a:latin typeface="Arial"/>
                <a:ea typeface="Arial"/>
                <a:cs typeface="Arial"/>
              </a:defRPr>
            </a:pPr>
            <a:r>
              <a:rPr sz="2475" b="1">
                <a:solidFill>
                  <a:srgbClr val="0C110E"/>
                </a:solidFill>
                <a:latin typeface="Arial"/>
                <a:ea typeface="Arial"/>
                <a:cs typeface="Arial"/>
              </a:rPr>
              <a:t>The launch</a:t>
            </a:r>
          </a:p>
        </p:txBody>
      </p:sp>
      <p:sp>
        <p:nvSpPr>
          <p:cNvPr id="14" name="">
            <a:extLst xmlns:a="http://schemas.openxmlformats.org/drawingml/2006/main">
              <a:ext uri="{FF2B5EF4-FFF2-40B4-BE49-F238E27FC236}">
                <a16:creationId xmlns:a16="http://schemas.microsoft.com/office/drawing/2014/main" id="{4B2EF721-159E-4863-BF6A-A7130171399F}"/>
              </a:ext>
            </a:extLst>
          </p:cNvPr>
          <p:cNvSpPr>
            <a:spLocks xmlns:a="http://schemas.openxmlformats.org/drawingml/2006/main" noGrp="1"/>
          </p:cNvSpPr>
          <p:nvPr/>
        </p:nvSpPr>
        <p:spPr>
          <a:xfrm xmlns:a="http://schemas.openxmlformats.org/drawingml/2006/main">
            <a:off x="5353050" y="5619750"/>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45D51"/>
                </a:solidFill>
                <a:latin typeface="Arial"/>
                <a:ea typeface="Arial"/>
                <a:cs typeface="Arial"/>
              </a:defRPr>
            </a:pPr>
            <a:r>
              <a:rPr sz="1950" b="0">
                <a:solidFill>
                  <a:srgbClr val="545D51"/>
                </a:solidFill>
                <a:latin typeface="Arial"/>
                <a:ea typeface="Arial"/>
                <a:cs typeface="Arial"/>
              </a:rPr>
              <a:t>Agree on timing and how to review progress.</a:t>
            </a:r>
          </a:p>
        </p:txBody>
      </p:sp>
    </p:spTree>
    <p:extLst>
      <p:ext uri="{BB962C8B-B14F-4D97-AF65-F5344CB8AC3E}">
        <p14:creationId xmlns:p14="http://schemas.microsoft.com/office/powerpoint/2010/main" val="417427637"/>
      </p:ext>
    </p:extLst>
  </p:cSld>
</p:sld>
</file>

<file path=ppt/slides/slide9.xml><?xml version="1.0" encoding="utf-8"?>
<p:sld xmlns:p="http://schemas.openxmlformats.org/presentationml/2006/main">
  <p:cSld>
    <p:bg>
      <p:bgPr>
        <a:solidFill xmlns:a="http://schemas.openxmlformats.org/drawingml/2006/main">
          <a:srgbClr val="0C110E"/>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a23119d0441453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313b78fcc7d47cd"/>
          <a:stretch xmlns:a="http://schemas.openxmlformats.org/drawingml/2006/main"/>
        </p:blipFill>
        <p:spPr>
          <a:xfrm xmlns:a="http://schemas.openxmlformats.org/drawingml/2006/main">
            <a:off x="571696" y="457200"/>
            <a:ext cx="2428484" cy="8382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2c60a4678ee482b"/>
          <a:stretch xmlns:a="http://schemas.openxmlformats.org/drawingml/2006/main"/>
        </p:blipFill>
        <p:spPr>
          <a:xfrm xmlns:a="http://schemas.openxmlformats.org/drawingml/2006/main">
            <a:off x="8439150" y="495300"/>
            <a:ext cx="742950" cy="742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D060C23-D77F-4272-A5C1-61FFCA481533}"/>
              </a:ext>
            </a:extLst>
          </p:cNvPr>
          <p:cNvSpPr>
            <a:spLocks xmlns:a="http://schemas.openxmlformats.org/drawingml/2006/main" noGrp="1"/>
          </p:cNvSpPr>
          <p:nvPr/>
        </p:nvSpPr>
        <p:spPr>
          <a:xfrm xmlns:a="http://schemas.openxmlformats.org/drawingml/2006/main">
            <a:off x="9239250" y="657225"/>
            <a:ext cx="276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FFFFFF"/>
                </a:solidFill>
                <a:latin typeface="Arial"/>
                <a:ea typeface="Arial"/>
                <a:cs typeface="Arial"/>
              </a:defRPr>
            </a:pPr>
            <a:r>
              <a:rPr sz="2250" b="1">
                <a:solidFill>
                  <a:srgbClr val="FFFFFF"/>
                </a:solidFill>
                <a:latin typeface="Arial"/>
                <a:ea typeface="Arial"/>
                <a:cs typeface="Arial"/>
              </a:rPr>
              <a:t>Petanque13</a:t>
            </a:r>
          </a:p>
        </p:txBody>
      </p:sp>
      <p:sp>
        <p:nvSpPr>
          <p:cNvPr id="5" name="">
            <a:extLst xmlns:a="http://schemas.openxmlformats.org/drawingml/2006/main">
              <a:ext uri="{FF2B5EF4-FFF2-40B4-BE49-F238E27FC236}">
                <a16:creationId xmlns:a16="http://schemas.microsoft.com/office/drawing/2014/main" id="{534B9CE7-A93E-49DF-A18D-9199BB4FD3CF}"/>
              </a:ext>
            </a:extLst>
          </p:cNvPr>
          <p:cNvSpPr>
            <a:spLocks xmlns:a="http://schemas.openxmlformats.org/drawingml/2006/main" noGrp="1"/>
          </p:cNvSpPr>
          <p:nvPr/>
        </p:nvSpPr>
        <p:spPr>
          <a:xfrm xmlns:a="http://schemas.openxmlformats.org/drawingml/2006/main">
            <a:off x="561975" y="2371725"/>
            <a:ext cx="80295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625" b="1">
                <a:solidFill>
                  <a:srgbClr val="91D13E"/>
                </a:solidFill>
                <a:latin typeface="Arial"/>
                <a:ea typeface="Arial"/>
                <a:cs typeface="Arial"/>
              </a:defRPr>
            </a:pPr>
            <a:r>
              <a:rPr sz="5625" b="1">
                <a:solidFill>
                  <a:srgbClr val="91D13E"/>
                </a:solidFill>
                <a:latin typeface="Arial"/>
                <a:ea typeface="Arial"/>
                <a:cs typeface="Arial"/>
              </a:rPr>
              <a:t>The next round,</a:t>
            </a:r>
          </a:p>
          <a:p xmlns:a="http://schemas.openxmlformats.org/drawingml/2006/main">
            <a:pPr>
              <a:buNone/>
              <a:defRPr sz="5625" b="1">
                <a:solidFill>
                  <a:srgbClr val="91D13E"/>
                </a:solidFill>
                <a:latin typeface="Arial"/>
                <a:ea typeface="Arial"/>
                <a:cs typeface="Arial"/>
              </a:defRPr>
            </a:pPr>
            <a:r>
              <a:rPr sz="5625" b="1">
                <a:solidFill>
                  <a:srgbClr val="91D13E"/>
                </a:solidFill>
                <a:latin typeface="Arial"/>
                <a:ea typeface="Arial"/>
                <a:cs typeface="Arial"/>
              </a:rPr>
              <a:t>together?</a:t>
            </a:r>
          </a:p>
        </p:txBody>
      </p:sp>
      <p:sp>
        <p:nvSpPr>
          <p:cNvPr id="6" name="">
            <a:extLst xmlns:a="http://schemas.openxmlformats.org/drawingml/2006/main">
              <a:ext uri="{FF2B5EF4-FFF2-40B4-BE49-F238E27FC236}">
                <a16:creationId xmlns:a16="http://schemas.microsoft.com/office/drawing/2014/main" id="{3529FCF4-1309-4DC6-874C-E07A9D3FC625}"/>
              </a:ext>
            </a:extLst>
          </p:cNvPr>
          <p:cNvSpPr>
            <a:spLocks xmlns:a="http://schemas.openxmlformats.org/drawingml/2006/main" noGrp="1"/>
          </p:cNvSpPr>
          <p:nvPr/>
        </p:nvSpPr>
        <p:spPr>
          <a:xfrm xmlns:a="http://schemas.openxmlformats.org/drawingml/2006/main">
            <a:off x="590550" y="4429125"/>
            <a:ext cx="75914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FFFFFF"/>
                </a:solidFill>
                <a:latin typeface="Arial"/>
                <a:ea typeface="Arial"/>
                <a:cs typeface="Arial"/>
              </a:defRPr>
            </a:pPr>
            <a:r>
              <a:rPr sz="2775" b="1">
                <a:solidFill>
                  <a:srgbClr val="FFFFFF"/>
                </a:solidFill>
                <a:latin typeface="Arial"/>
                <a:ea typeface="Arial"/>
                <a:cs typeface="Arial"/>
              </a:rPr>
              <a:t>Boulenciel and Petanque13</a:t>
            </a:r>
          </a:p>
        </p:txBody>
      </p:sp>
      <p:sp>
        <p:nvSpPr>
          <p:cNvPr id="7" name="">
            <a:extLst xmlns:a="http://schemas.openxmlformats.org/drawingml/2006/main">
              <a:ext uri="{FF2B5EF4-FFF2-40B4-BE49-F238E27FC236}">
                <a16:creationId xmlns:a16="http://schemas.microsoft.com/office/drawing/2014/main" id="{995DB29A-2797-4F2D-857C-A12152DB3C5E}"/>
              </a:ext>
            </a:extLst>
          </p:cNvPr>
          <p:cNvSpPr>
            <a:spLocks xmlns:a="http://schemas.openxmlformats.org/drawingml/2006/main" noGrp="1"/>
          </p:cNvSpPr>
          <p:nvPr/>
        </p:nvSpPr>
        <p:spPr>
          <a:xfrm xmlns:a="http://schemas.openxmlformats.org/drawingml/2006/main">
            <a:off x="609600" y="5410200"/>
            <a:ext cx="74580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Frederic Keulemans</a:t>
            </a:r>
          </a:p>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info@petanque13.be</a:t>
            </a:r>
          </a:p>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petanque13.be</a:t>
            </a:r>
          </a:p>
        </p:txBody>
      </p:sp>
    </p:spTree>
    <p:extLst>
      <p:ext uri="{BB962C8B-B14F-4D97-AF65-F5344CB8AC3E}">
        <p14:creationId xmlns:p14="http://schemas.microsoft.com/office/powerpoint/2010/main" val="12588896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2026-10-08T15:18:46.9710000Z</dcterms:created>
  <dcterms:modified xsi:type="dcterms:W3CDTF">2026-10-08T15:18:46.9710000Z</dcterms:modified>
</coreProperties>
</file>